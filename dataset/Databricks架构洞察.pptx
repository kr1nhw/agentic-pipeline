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</p:sldMasterIdLst>
  <p:notesMasterIdLst>
    <p:notesMasterId r:id="rId2"/>
  </p:notesMasterIdLst>
  <p:sldIdLst>
    <p:sldId id="256" r:id="rId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3" Type="http://schemas.openxmlformats.org/officeDocument/2006/relationships/presProps" Target="presProps.xml" /><Relationship Id="rId2" Type="http://schemas.openxmlformats.org/officeDocument/2006/relationships/notesMaster" Target="notesMasters/notesMaster1.xml" /><Relationship Id="rId5" Type="http://schemas.openxmlformats.org/officeDocument/2006/relationships/viewProps" Target="viewProps.xml" /><Relationship Id="rId4" Type="http://schemas.openxmlformats.org/officeDocument/2006/relationships/tableStyles" Target="tableStyles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5" Type="http://schemas.openxmlformats.org/officeDocument/2006/relationships/image" Target="media/image5.svg" /><Relationship Id="rId4" Type="http://schemas.openxmlformats.org/officeDocument/2006/relationships/image" Target="media/image4.svg" /><Relationship Id="rId1" Type="http://schemas.openxmlformats.org/officeDocument/2006/relationships/image" Target="media/image1.svg" /><Relationship Id="rId2" Type="http://schemas.openxmlformats.org/officeDocument/2006/relationships/image" Target="media/image2.svg" /><Relationship Id="rId9" Type="http://schemas.openxmlformats.org/officeDocument/2006/relationships/image" Target="media/image9.svg" /><Relationship Id="rId8" Type="http://schemas.openxmlformats.org/officeDocument/2006/relationships/image" Target="media/image8.svg" /><Relationship Id="rId7" Type="http://schemas.openxmlformats.org/officeDocument/2006/relationships/image" Target="media/image7.svg" /><Relationship Id="rId6" Type="http://schemas.openxmlformats.org/officeDocument/2006/relationships/image" Target="media/image6.svg" /><Relationship Id="rId3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slide1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1" name="" descr="&lt;Slide style={{&#10;    width: '1280px',&#10;    height: '720px',&#10;    padding: '18px 48px 20px 48px',&#10;    background: '#FFFFFF',&#10;    flexDirection: 'column',&#10;    fontFamily: &quot;'Source Han Sans SC','Noto Sans SC','PingFang SC','Microsoft YaHei',sans-serif&quot;,&#10;}}&gt;&#10;&#10;    {/* ============ A · 标题块 104px ============ */}&#10;    &lt;Box style={{&#10;        height: 104,&#10;        flexDirection: 'row',&#10;        justifyContent: 'space-between',&#10;        alignItems: 'center',&#10;        borderBottom: '2px solid #C8102E',&#10;        paddingBottom: 10,&#10;    }}&gt;&#10;        &lt;Box style={{ width: 906, flexDirection: 'row', alignItems: 'center', gap: 14 }}&gt;&#10;            &lt;Box style={{ width: 5, height: 64, background: '#C8102E', borderRadius: 2 }} /&gt;&#10;            &lt;Box style={{ flex: 1 }}&gt;&#10;                &lt;Text style={{ fontSize: 29, fontWeight: 'bold', color: '#1A1A1A', lineHeight: 1.2, letterSpacing: 0.2 }}&gt;&#10;                    LTAP 洞察：&lt;span style={{ color: '#C8102E' }}&gt;Lakebase&lt;/span&gt; 托起 &lt;span style={{ color: '#C8102E' }}&gt;Genie &amp;amp; UC Semantics&lt;/span&gt; 的语义智能&#10;                &lt;/Text&gt;&#10;                &lt;Text style={{ fontSize: 14, color: '#6B7280', lineHeight: 1.45, marginTop: 5 }}&gt;&#10;                    自研 Genie Ontology 治理口径，Lakebase 提供状态、记忆、检索与沙箱 —— 语义层从「答得准」走到「记得住、动得起来」&#10;                &lt;/Text&gt;&#10;            &lt;/Box&gt;&#10;        &lt;/Box&gt;&#10;&#10;        &lt;Box style={{ width: 264, height: 78, flexDirection: 'row', alignItems: 'flex-end', justifyContent: 'flex-end', gap: 20 }}&gt;&#10;            &lt;Box style={{ height: 74, alignItems: 'flex-end', justifyContent: 'flex-end' }}&gt;&#10;                &lt;Text style={{&#10;                    fontSize: 34, fontWeight: 'bold', color: '#C8102E', lineHeight: 1.15,&#10;                    fontFamily: &quot;'Helvetica Neue',Arial,sans-serif&quot;,&#10;                }}&gt;&amp;lt;10ms&lt;/Text&gt;&#10;                &lt;Text style={{ fontSize: 11, color: '#6B7280', lineHeight: 1.3, marginTop: 2 }}&gt;读写延迟 @10k QPS&lt;/Text&gt;&#10;            &lt;/Box&gt;&#10;            &lt;Box style={{ width: 1, height: 42, background: '#E5E7EB' }} /&gt;&#10;            &lt;Box style={{ height: 74, alignItems: 'flex-end', justifyContent: 'flex-end' }}&gt;&#10;                &lt;Text style={{&#10;                    fontSize: 24, fontWeight: 'bold', color: '#1A1A1A', lineHeight: 1.15,&#10;                    fontFamily: &quot;'Helvetica Neue',Arial,sans-serif&quot;,&#10;                }}&gt;+30%&lt;/Text&gt;&#10;                &lt;Text style={{ fontSize: 11, color: '#6B7280', lineHeight: 1.3, marginTop: 4 }}&gt;Ontology 准确率提升&lt;/Text&gt;&#10;            &lt;/Box&gt;&#10;        &lt;/Box&gt;&#10;    &lt;/Box&gt;&#10;&#10;    {/* ============ B · 内容区 548px ============ */}&#10;    &lt;Box style={{ height: 548, flexDirection: 'row', gap: 18, paddingTop: 10 }}&gt;&#10;&#10;        {/* ---------- 左：分层架构 ---------- */}&#10;        &lt;Box style={{ width: 540, height: 538, flexDirection: 'column', gap: 6 }}&gt;&#10;&#10;            &lt;Box style={{ height: 22, flexDirection: 'row', alignItems: 'center', gap: 8 }}&gt;&#10;                &lt;Box style={{ width: 4, height: 14, background: '#C8102E' }} /&gt;&#10;                &lt;Text style={{ fontSize: 13, fontWeight: 'bold', color: '#1A1A1A', lineHeight: 1.2 }}&gt;LTAP 分层架构&lt;/Text&gt;&#10;                &lt;Text style={{ fontSize: 11, color: '#6B7280', lineHeight: 1.2 }}&gt;单一副本 · 单一治理&lt;/Text&gt;&#10;            &lt;/Box&gt;&#10;&#10;            {/* 消费方 */}&#10;            &lt;Box style={{&#10;                height: 32, borderRadius: 6, border: '1px solid #D9DDE3',&#10;                background: '#FFFFFF', justifyContent: 'center', paddingLeft: 14, flexDirection: 'row', alignItems: 'center', gap: 9,&#10;            }}&gt;&#10;                &lt;Box style={{ width: 6, height: 6, borderRadius: 3, background: '#6B7280' }} /&gt;&#10;                &lt;Text style={{ fontSize: 12, color: '#1A1A1A', lineHeight: 1.2 }}&gt;&#10;                    消费方：Genie One · Genie Agents · Slack / Teams · 第三方 Agent（MCP）&#10;                &lt;/Text&gt;&#10;            &lt;/Box&gt;&#10;&#10;            &lt;Box style={{ height: 14, flexDirection: 'row', alignItems: 'center', gap: 6, paddingLeft: 16 }}&gt;&#10;                &lt;FAIcon name='arrow-down' style={{ fill: '#C8102E', width: 10, height: 10 }} /&gt;&#10;                &lt;Text style={{ fontSize: 10, color: '#C8102E', lineHeight: 1.2 }}&gt;自然语言提问 · 定时任务 · 触发动作&lt;/Text&gt;&#10;            &lt;/Box&gt;&#10;&#10;            {/* 上层：Genie &amp; UC Semantics */}&#10;            &lt;Box style={{&#10;                height: 148, borderRadius: 8, overflow: 'hidden',&#10;                border: '1px solid #E7C6CB', background: '#FFFFFF',&#10;            }}&gt;&#10;                &lt;Box style={{&#10;                    height: 30, paddingLeft: 14, paddingRight: 14, flexDirection: 'row',&#10;                    alignItems: 'center', justifyContent: 'space-between',&#10;                    background: 'linear-gradient(135deg, #C8102E 0%, #A30D24 100%)',&#10;                }}&gt;&#10;                    &lt;Box style={{ flexDirection: 'row', alignItems: 'center', gap: 8 }}&gt;&#10;                        &lt;FAIcon name='sitemap' style={{ fill: '#FFFFFF', width: 14, height: 14 }} /&gt;&#10;                        &lt;Text style={{ fontSize: 16.5, fontWeight: 'bold', color: '#FFFFFF', lineHeight: 1.2 }}&gt;Genie &amp;amp; UC Semantics&lt;/Text&gt;&#10;                    &lt;/Box&gt;&#10;                    &lt;Text style={{ fontSize: 10.5, color: '#FBDDE1', lineHeight: 1.2 }}&gt;上层 · 自研本体 + 指标语义&lt;/Text&gt;&#10;                &lt;/Box&gt;&#10;                &lt;Box style={{ height: 118, padding: 8, flexDirection: 'column', gap: 6, background: '#FBEAEC' }}&gt;&#10;                    &lt;Box style={{ height: 48, flexDirection: 'row', gap: 6 }}&gt;&#10;                        &lt;Box style={{ flex: 1, background: '#FFFFFF', borderRadius: 5, border: '1px solid #F0D3D7', padding: '5px 9px' }}&gt;&#10;                            &lt;Text style={{ fontSize: 12, fontWeight: 'bold', color: '#1A1A1A', lineHeight: 1.25 }}&gt;Genie Ontology&lt;/Text&gt;&#10;                            &lt;Text style={{ fontSize: 10, color: '#4B5563', lineHeight: 1.35, marginTop: 2 }}&gt;Databricks 自研知识图谱，后台持续构建&lt;/Text&gt;&#10;                        &lt;/Box&gt;&#10;                        &lt;Box style={{ flex: 1, background: '#FFFFFF', borderRadius: 5, border: '1px solid #F0D3D7', padding: '5px 9px' }}&gt;&#10;                            &lt;Text style={{ fontSize: 12, fontWeight: 'bold', color: '#1A1A1A', lineHeight: 1.25 }}&gt;Metric Views&lt;/Text&gt;&#10;                            &lt;Text style={{ fontSize: 10, color: '#4B5563', lineHeight: 1.35, marginTop: 2 }}&gt;指标一次定义，查询时解析聚合&lt;/Text&gt;&#10;                        &lt;/Box&gt;&#10;                    &lt;/Box&gt;&#10;                    &lt;Box style={{ height: 48, flexDirection: 'row', gap: 6 }}&gt;&#10;                        &lt;Box style={{ flex: 1, background: '#FFFFFF', borderRadius: 5, border: '1px solid #F0D3D7', padding: '5px 9px' }}&gt;&#10;                            &lt;Text style={{ fontSize: 12, fontWeight: 'bold', color: '#1A1A1A', lineHeight: 1.25 }}&gt;OntoRank 权威排序&lt;/Text&gt;&#10;                            &lt;Text style={{ fontSize: 10, color: '#4B5563', lineHeight: 1.35, marginTop: 2 }}&gt;按作者/引用/时效消解同名异义&lt;/Text&gt;&#10;                        &lt;/Box&gt;&#10;                        &lt;Box style={{ flex: 1, background: '#FFFFFF', borderRadius: 5, border: '1px solid #F0D3D7', padding: '5px 9px' }}&gt;&#10;                            &lt;Text style={{ fontSize: 12, fontWeight: 'bold', color: '#1A1A1A', lineHeight: 1.25 }}&gt;Domains &amp;amp; MCP&lt;/Text&gt;&#10;                            &lt;Text style={{ fontSize: 10, color: '#4B5563', lineHeight: 1.35, marginTop: 2 }}&gt;术语/页面/资产归属，MCP 全域共享&lt;/Text&gt;&#10;                        &lt;/Box&gt;&#10;                    &lt;/Box&gt;&#10;                &lt;/Box&gt;&#10;            &lt;/Box&gt;&#10;&#10;            {/* 支撑带：Lakebase → Genie */}&#10;            &lt;Box style={{&#10;                height: 52, borderRadius: 7, background: '#C8102E',&#10;                flexDirection: 'row', alignItems: 'center', paddingLeft: 12, paddingRight: 12, gap: 10,&#10;            }}&gt;&#10;                &lt;FAIcon name='arrow-up' style={{ fill: '#FFFFFF', width: 15, height: 15 }} /&gt;&#10;                &lt;Box style={{ flex: 1 }}&gt;&#10;                    &lt;Text style={{ fontSize: 12, fontWeight: 'bold', color: '#FFFFFF', lineHeight: 1.25 }}&gt;&#10;                        Lakebase 如何支撑 Genie&#10;                    &lt;/Text&gt;&#10;                    &lt;Text style={{ fontSize: 10, color: '#FBDDE1', lineHeight: 1.4, marginTop: 2 }}&gt;&#10;                        会话状态与长期记忆 · LangGraph Checkpoint 与时间旅行 · pgvector 同一库检索 · 每 Agent 沙箱分支&#10;                    &lt;/Text&gt;&#10;                &lt;/Box&gt;&#10;            &lt;/Box&gt;&#10;&#10;            {/* 治理横切面 */}&#10;            &lt;Box style={{&#10;                height: 28, borderRadius: 6, background: '#FBEAEC', borderLeft: '4px solid #C8102E',&#10;                justifyContent: 'center', paddingLeft: 12, flexDirection: 'row', alignItems: 'center', gap: 8,&#10;            }}&gt;&#10;                &lt;FAIcon name='shield-alt' style={{ fill: '#C8102E', width: 12, height: 12 }} /&gt;&#10;                &lt;Text style={{ fontSize: 11.5, fontWeight: 'bold', color: '#C8102E', lineHeight: 1.2 }}&gt;Unity Catalog 横切治理&lt;/Text&gt;&#10;                &lt;Text style={{ fontSize: 10, color: '#6B7280', lineHeight: 1.2 }}&gt;对话历史与业务数据同一套权限 · 血缘 · 审计&lt;/Text&gt;&#10;            &lt;/Box&gt;&#10;&#10;            {/* 下层：Lakebase */}&#10;            &lt;Box style={{&#10;                height: 148, borderRadius: 8, overflow: 'hidden',&#10;                border: '1px solid #D5D8DD', background: '#FFFFFF',&#10;            }}&gt;&#10;                &lt;Box style={{&#10;                    height: 30, paddingLeft: 14, paddingRight: 14, flexDirection: 'row',&#10;                    alignItems: 'center', justifyContent: 'space-between',&#10;                    background: 'linear-gradient(135deg, #2A2A2E 0%, #4A4A50 100%)',&#10;                }}&gt;&#10;                    &lt;Box style={{ flexDirection: 'row', alignItems: 'center', gap: 8 }}&gt;&#10;                        &lt;FAIcon name='database' style={{ fill: '#FFFFFF', width: 14, height: 14 }} /&gt;&#10;                        &lt;Text style={{ fontSize: 16.5, fontWeight: 'bold', color: '#FFFFFF', lineHeight: 1.2 }}&gt;Lakebase&lt;/Text&gt;&#10;                    &lt;/Box&gt;&#10;                    &lt;Text style={{ fontSize: 10.5, color: '#D7D8DC', lineHeight: 1.2 }}&gt;下层 · Serverless Postgres 状态底座&lt;/Text&gt;&#10;                &lt;/Box&gt;&#10;                &lt;Box style={{ height: 118, padding: 8, flexDirection: 'column', gap: 6, background: '#F4F5F7' }}&gt;&#10;                    &lt;Box style={{ height: 48, flexDirection: 'row', gap: 6 }}&gt;&#10;                        &lt;Box style={{ flex: 1, background: '#FFFFFF', borderRadius: 5, border: '1px solid #E2E4E9', padding: '5px 9px' }}&gt;&#10;                            &lt;Text style={{ fontSize: 12, fontWeight: 'bold', color: '#1A1A1A', lineHeight: 1.25 }}&gt;对象存储 WAL · LSN&lt;/Text&gt;&#10;                            &lt;Text style={{ fontSize: 10, color: '#4B5563', lineHeight: 1.35, marginTop: 2 }}&gt;事务历史外置，副本即引用&lt;/Text&gt;&#10;                        &lt;/Box&gt;&#10;                        &lt;Box style={{ flex: 1, background: '#FFFFFF', borderRadius: 5, border: '1px solid #E2E4E9', padding: '5px 9px' }}&gt;&#10;                            &lt;Text style={{ fontSize: 12, fontWeight: 'bold', color: '#1A1A1A', lineHeight: 1.25 }}&gt;Agent 状态与记忆&lt;/Text&gt;&#10;                            &lt;Text style={{ fontSize: 10, color: '#4B5563', lineHeight: 1.35, marginTop: 2 }}&gt;短期线程+长期记忆落标准表&lt;/Text&gt;&#10;                        &lt;/Box&gt;&#10;                    &lt;/Box&gt;&#10;                    &lt;Box style={{ height: 48, flexDirection: 'row', gap: 6 }}&gt;&#10;                        &lt;Box style={{ flex: 1, background: '#FFFFFF', borderRadius: 5, border: '1px solid #E2E4E9', padding: '5px 9px' }}&gt;&#10;                            &lt;Text style={{ fontSize: 12, fontWeight: 'bold', color: '#1A1A1A', lineHeight: 1.25 }}&gt;pgvector 同库检索&lt;/Text&gt;&#10;                            &lt;Text style={{ fontSize: 10, color: '#4B5563', lineHeight: 1.35, marginTop: 2 }}&gt;向量+文本混合检索免另设服务&lt;/Text&gt;&#10;                        &lt;/Box&gt;&#10;                        &lt;Box style={{ flex: 1, background: '#FFFFFF', borderRadius: 5, border: '1px solid #E2E4E9', padding: '5px 9px' }}&gt;&#10;                            &lt;Text style={{ fontSize: 12, fontWeight: 'bold', color: '#1A1A1A', lineHeight: 1.25 }}&gt;CDF 回流 · Synced Tables&lt;/Text&gt;&#10;                            &lt;Text style={{ fontSize: 10, color: '#4B5563', lineHeight: 1.35, marginTop: 2 }}&gt;对话记录回写 Delta 供评测&lt;/Text&gt;&#10;                        &lt;/Box&gt;&#10;                    &lt;/Box&gt;&#10;                &lt;/Box&gt;&#10;            &lt;/Box&gt;&#10;&#10;            &lt;Box style={{ height: 14, flexDirection: 'row', alignItems: 'center', gap: 6, paddingLeft: 16 }}&gt;&#10;                &lt;FAIcon name='arrow-down' style={{ fill: '#C8102E', width: 10, height: 10 }} /&gt;&#10;                &lt;Text style={{ fontSize: 10, color: '#C8102E', lineHeight: 1.2 }}&gt;事务落库即入湖：无 CDC、无镜像副本&lt;/Text&gt;&#10;            &lt;/Box&gt;&#10;&#10;            {/* 存储底座 */}&#10;            &lt;Box style={{&#10;                height: 30, borderRadius: 6, background: '#1A1A1A',&#10;                justifyContent: 'center', paddingLeft: 14, flexDirection: 'row', alignItems: 'center', gap: 9,&#10;            }}&gt;&#10;                &lt;FAIcon name='cube' style={{ fill: '#FFFFFF', width: 13, height: 13 }} /&gt;&#10;                &lt;Text style={{ fontSize: 12, color: '#FFFFFF', lineHeight: 1.2 }}&gt;&#10;                    开放存储层 · &lt;span style={{ fontWeight: 'bold' }}&gt;Delta / Iceberg&lt;/span&gt; —— 交易、流式、分析共用同一份数据&#10;                &lt;/Text&gt;&#10;            &lt;/Box&gt;&#10;        &lt;/Box&gt;&#10;&#10;        {/* ---------- 右：关键技术点 ---------- */}&#10;        &lt;Box style={{ width: 626, height: 538, flexDirection: 'column', gap: 6 }}&gt;&#10;&#10;            &lt;Box style={{ height: 22, flexDirection: 'row', alignItems: 'center', gap: 8 }}&gt;&#10;                &lt;Box style={{ width: 4, height: 14, background: '#C8102E' }} /&gt;&#10;                &lt;Text style={{ fontSize: 13, fontWeight: 'bold', color: '#1A1A1A', lineHeight: 1.2 }}&gt;Lakebase 对 Genie 的四层支撑&lt;/Text&gt;&#10;                &lt;Text style={{ fontSize: 11, color: '#6B7280', lineHeight: 1.2 }}&gt;从语义准确到可执行&lt;/Text&gt;&#10;            &lt;/Box&gt;&#10;&#10;            &lt;Box style={{&#10;                flex: 1, background: '#FFFFFF', borderRadius: 7,&#10;                border: '1px solid #E7E9ED', borderLeftWidth: 4, borderLeftColor: '#C8102E',&#10;                padding: '9px 14px', flexDirection: 'column',&#10;            }}&gt;&#10;                &lt;Box style={{ flexDirection: 'row', alignItems: 'center', gap: 8 }}&gt;&#10;                    &lt;FAIcon name='comments' style={{ fill: '#C8102E', width: 15, height: 15 }} /&gt;&#10;                    &lt;Text style={{ fontSize: 15, fontWeight: 'bold', color: '#1A1A1A', lineHeight: 1.25 }}&gt;状态与记忆：让 Genie 记得住，而不是每次从零开始&lt;/Text&gt;&#10;                &lt;/Box&gt;&#10;                &lt;Text style={{ fontSize: 12, color: '#374151', lineHeight: 1.5, marginTop: 5 }}&gt;&#10;                    会话状态、线程 ID 与长期用户记忆直接写进标准 Postgres 表，与业务事务同处一库：短期记忆靠 thread ID 与 checkpoint 维持轮次上下文，长期记忆跨会话累积成用户画像。原生支持 LangGraph checkpoint 与 OpenAI Agents SDK，无需外挂记忆服务——语义层的答案因此能带着「这个用户上次问过什么」一起返回。&#10;                &lt;/Text&gt;&#10;            &lt;/Box&gt;&#10;&#10;            &lt;Box style={{&#10;                flex: 1, background: '#FFFFFF', borderRadius: 7,&#10;                border: '1px solid #E7E9ED', borderLeftWidth: 4, borderLeftColor: '#C8102E',&#10;                padding: '9px 14px', flexDirection: 'column',&#10;            }}&gt;&#10;                &lt;Box style={{ flexDirection: 'row', alignItems: 'center', gap: 8 }}&gt;&#10;                    &lt;FAIcon name='code-branch' style={{ fill: '#C8102E', width: 15, height: 15 }} /&gt;&#10;                    &lt;Text style={{ fontSize: 15, fontWeight: 'bold', color: '#1A1A1A', lineHeight: 1.25 }}&gt;时间旅行与分支：让 Genie 的「假设推演」可以回滚&lt;/Text&gt;&#10;                &lt;/Box&gt;&#10;                &lt;Text style={{ fontSize: 12, color: '#374151', lineHeight: 1.5, marginTop: 5 }}&gt;&#10;                    Agent 生成一段分析、发现口径不对需要重来时，不必重跑整条链路：按 LSN 指向历史状态即可恢复，也可从任意 checkpoint 分叉一条新对话去试另一种假设。2 TB 库秒级克隆、零初始开销，父库零负载——「多试几次」的成本被压到近乎为零，这是 Genie 从回答问题走向推演问题的前提。&#10;                &lt;/Text&gt;&#10;            &lt;/Box&gt;&#10;&#10;            &lt;Box style={{&#10;                flex: 1, background: '#FFFFFF', borderRadius: 7,&#10;                border: '1px solid #E7E9ED', borderLeftWidth: 4, borderLeftColor: '#C8102E',&#10;                padding: '9px 14px', flexDirection: 'column',&#10;            }}&gt;&#10;                &lt;Box style={{ flexDirection: 'row', alignItems: 'center', gap: 8 }}&gt;&#10;                    &lt;FAIcon name='search' style={{ fill: '#C8102E', width: 15, height: 15 }} /&gt;&#10;                    &lt;Text style={{ fontSize: 15, fontWeight: 'bold', color: '#1A1A1A', lineHeight: 1.25 }}&gt;同库检索：把 RAG 与事务数据放在一处&lt;/Text&gt;&#10;                &lt;/Box&gt;&#10;                &lt;Text style={{ fontSize: 12, color: '#374151', lineHeight: 1.5, marginTop: 5 }}&gt;&#10;                    pgvector 等扩展在同一库里做向量、文本与混合检索，检索记忆与写入状态不再跨库同步，少一份一致性风险。亚 10 ms 读写、万级 QPS 的表现，让 Agent 能在一次回答内串联几十次调用；Scale-to-Zero 让「每个 Agent 一个库」在成本上成立——闲置即挂起，不为沉睡的 Agent 付费。&#10;                &lt;/Text&gt;&#10;            &lt;/Box&gt;&#10;&#10;            &lt;Box style={{&#10;                flex: 1, background: '#FFFFFF', borderRadius: 7,&#10;                border: '1px solid #E7E9ED', borderLeftWidth: 4, borderLeftColor: '#C8102E',&#10;                padding: '9px 14px', flexDirection: 'column',&#10;            }}&gt;&#10;                &lt;Box style={{ flexDirection: 'row', alignItems: 'center', gap: 8 }}&gt;&#10;                    &lt;FAIcon name='shield-alt' style={{ fill: '#C8102E', width: 15, height: 15 }} /&gt;&#10;                    &lt;Text style={{ fontSize: 15, fontWeight: 'bold', color: '#1A1A1A', lineHeight: 1.25 }}&gt;统一治理与回流：语义可信的前提&lt;/Text&gt;&#10;                &lt;/Box&gt;&#10;                &lt;Text style={{ fontSize: 12, color: '#374151', lineHeight: 1.5, marginTop: 5 }}&gt;&#10;                    对话历史继承 UC 的权限、血缘与审计，行级安全做到用户级隔离，Ontology 的「权限感知检索」才有可靠底座；Change Data Feed 把会话记录回写 Delta 用于离线评测与审计，Synced Tables 把实体目录、策略表等参考数据送进 Agent。Ontology 因此不是空转的图谱，而是有真实读写与反馈的闭环。&#10;                &lt;/Text&gt;&#10;            &lt;/Box&gt;&#10;        &lt;/Box&gt;&#10;    &lt;/Box&gt;&#10;&#10;    {/* ============ C · 页脚条 30px ============ */}&#10;    &lt;Box style={{ height: 30, flexDirection: 'row', justifyContent: 'space-between', alignItems: 'flex-end' }}&gt;&#10;        &lt;Text style={{ fontSize: 10.5, color: '#9CA3AF', lineHeight: 1.3 }}&gt;&#10;            血统澄清：Genie 起源于 Databricks AI/BI 自研对话助手，2026.06 演进为 Genie One / Agents / Ontology（自研）；Palantir 为 2025.03 起的战略产品伙伴，经 Unity Catalog + Delta Sharing 互通，非 Genie 本体来源&#10;        &lt;/Text&gt;&#10;        &lt;Text style={{ fontSize: 12, color: '#6B7280', lineHeight: 1.3, fontFamily: &quot;'Helvetica Neue',Arial,sans-serif&quot; }}&gt;&#10;            01 / 01&#10;        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457200" y="171450"/>
            <a:ext cx="11277600" cy="990600"/>
          </a:xfrm>
          <a:custGeom>
            <a:pathLst>
              <a:path w="1184" h="104">
                <a:moveTo>
                  <a:pt x="0" y="102"/>
                </a:moveTo>
                <a:lnTo>
                  <a:pt x="1184" y="102"/>
                </a:lnTo>
                <a:lnTo>
                  <a:pt x="1184" y="104"/>
                </a:lnTo>
                <a:lnTo>
                  <a:pt x="0" y="104"/>
                </a:lnTo>
                <a:close/>
              </a:path>
            </a:pathLst>
          </a:custGeom>
          <a:solidFill>
            <a:srgbClr val="C8102E"/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457200" y="304800"/>
            <a:ext cx="47625" cy="609600"/>
          </a:xfrm>
          <a:prstGeom prst="roundRect">
            <a:avLst>
              <a:gd name="adj" fmla="val 40000"/>
            </a:avLst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38175" y="266700"/>
            <a:ext cx="8448675" cy="4000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175" b="1" spc="15">
                <a:solidFill>
                  <a:srgbClr val="1A1A1A"/>
                </a:solidFill>
                <a:latin typeface="Source Han Sans SC"/>
                <a:ea typeface="Source Han Sans SC"/>
              </a:rPr>
              <a:t xml:space="preserve">LTAP </a:t>
            </a:r>
            <a:r>
              <a:rPr lang="zh-CN" sz="2175" b="1" spc="15">
                <a:solidFill>
                  <a:srgbClr val="1A1A1A"/>
                </a:solidFill>
                <a:latin typeface="Source Han Sans SC"/>
                <a:ea typeface="Source Han Sans SC"/>
              </a:rPr>
              <a:t>洞察：</a:t>
            </a:r>
            <a:r>
              <a:rPr lang="en-US" sz="2175" b="1" spc="15">
                <a:solidFill>
                  <a:srgbClr val="C8102E"/>
                </a:solidFill>
                <a:latin typeface="Source Han Sans SC"/>
                <a:ea typeface="Source Han Sans SC"/>
              </a:rPr>
              <a:t>Lakebase</a:t>
            </a:r>
            <a:r>
              <a:rPr lang="en-US" sz="2175" b="1" spc="15">
                <a:solidFill>
                  <a:srgbClr val="1A1A1A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2175" b="1" spc="15">
                <a:solidFill>
                  <a:srgbClr val="1A1A1A"/>
                </a:solidFill>
                <a:latin typeface="Source Han Sans SC"/>
                <a:ea typeface="Source Han Sans SC"/>
              </a:rPr>
              <a:t>托起</a:t>
            </a:r>
            <a:r>
              <a:rPr lang="en-US" sz="2175" b="1" spc="15">
                <a:solidFill>
                  <a:srgbClr val="1A1A1A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2175" b="1" spc="15">
                <a:solidFill>
                  <a:srgbClr val="C8102E"/>
                </a:solidFill>
                <a:latin typeface="Source Han Sans SC"/>
                <a:ea typeface="Source Han Sans SC"/>
              </a:rPr>
              <a:t>Genie &amp; UC Semantics</a:t>
            </a:r>
            <a:r>
              <a:rPr lang="en-US" sz="2175" b="1" spc="15">
                <a:solidFill>
                  <a:srgbClr val="1A1A1A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2175" b="1" spc="15">
                <a:solidFill>
                  <a:srgbClr val="1A1A1A"/>
                </a:solidFill>
                <a:latin typeface="Source Han Sans SC"/>
                <a:ea typeface="Source Han Sans SC"/>
              </a:rPr>
              <a:t>的语义智能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38175" y="714375"/>
            <a:ext cx="84486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6B7280"/>
                </a:solidFill>
                <a:latin typeface="Source Han Sans SC"/>
                <a:ea typeface="Source Han Sans SC"/>
              </a:rPr>
              <a:t>自研</a:t>
            </a:r>
            <a:r>
              <a:rPr lang="en-US" sz="1050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Genie Ontology </a:t>
            </a:r>
            <a:r>
              <a:rPr lang="zh-CN" sz="1050">
                <a:solidFill>
                  <a:srgbClr val="6B7280"/>
                </a:solidFill>
                <a:latin typeface="Source Han Sans SC"/>
                <a:ea typeface="Source Han Sans SC"/>
              </a:rPr>
              <a:t>治理口径，</a:t>
            </a:r>
            <a:r>
              <a:rPr lang="en-US" sz="1050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Lakebase </a:t>
            </a:r>
            <a:r>
              <a:rPr lang="zh-CN" sz="1050">
                <a:solidFill>
                  <a:srgbClr val="6B7280"/>
                </a:solidFill>
                <a:latin typeface="Source Han Sans SC"/>
                <a:ea typeface="Source Han Sans SC"/>
              </a:rPr>
              <a:t>提供状态、记忆、检索与沙箱</a:t>
            </a:r>
            <a:r>
              <a:rPr lang="en-US" sz="1050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—— </a:t>
            </a:r>
            <a:r>
              <a:rPr lang="zh-CN" sz="1050">
                <a:solidFill>
                  <a:srgbClr val="6B7280"/>
                </a:solidFill>
                <a:latin typeface="Source Han Sans SC"/>
                <a:ea typeface="Source Han Sans SC"/>
              </a:rPr>
              <a:t>语义层从「答得准」走到「记得住、动得起来」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9315450" y="342900"/>
            <a:ext cx="1028700" cy="4476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2550" b="1">
                <a:solidFill>
                  <a:srgbClr val="C8102E"/>
                </a:solidFill>
                <a:latin typeface="Helvetica Neue"/>
                <a:ea typeface="Helvetica Neue"/>
              </a:rPr>
              <a:t>&lt;10ms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382125" y="809625"/>
            <a:ext cx="962025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25">
                <a:solidFill>
                  <a:srgbClr val="6B7280"/>
                </a:solidFill>
                <a:latin typeface="Source Han Sans SC"/>
                <a:ea typeface="Source Han Sans SC"/>
              </a:rPr>
              <a:t>读写延迟</a:t>
            </a:r>
            <a:r>
              <a:rPr lang="en-US" sz="825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@10k QPS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10534650" y="581025"/>
            <a:ext cx="9525" cy="40005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11106150" y="447675"/>
            <a:ext cx="628650" cy="3238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1800" b="1">
                <a:solidFill>
                  <a:srgbClr val="1A1A1A"/>
                </a:solidFill>
                <a:latin typeface="Helvetica Neue"/>
                <a:ea typeface="Helvetica Neue"/>
              </a:rPr>
              <a:t>+30%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0734675" y="80962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825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Ontology </a:t>
            </a:r>
            <a:r>
              <a:rPr lang="zh-CN" sz="825">
                <a:solidFill>
                  <a:srgbClr val="6B7280"/>
                </a:solidFill>
                <a:latin typeface="Source Han Sans SC"/>
                <a:ea typeface="Source Han Sans SC"/>
              </a:rPr>
              <a:t>准确率提升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457200" y="1295400"/>
            <a:ext cx="38100" cy="13335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571500" y="1276350"/>
            <a:ext cx="857250" cy="1809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975" b="1">
                <a:solidFill>
                  <a:srgbClr val="1A1A1A"/>
                </a:solidFill>
                <a:latin typeface="Source Han Sans SC"/>
                <a:ea typeface="Source Han Sans SC"/>
              </a:rPr>
              <a:t xml:space="preserve">LTAP </a:t>
            </a:r>
            <a:r>
              <a:rPr lang="zh-CN" sz="975" b="1">
                <a:solidFill>
                  <a:srgbClr val="1A1A1A"/>
                </a:solidFill>
                <a:latin typeface="Source Han Sans SC"/>
                <a:ea typeface="Source Han Sans SC"/>
              </a:rPr>
              <a:t>分层架构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1504950" y="1285875"/>
            <a:ext cx="962025" cy="1524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825">
                <a:solidFill>
                  <a:srgbClr val="6B7280"/>
                </a:solidFill>
                <a:latin typeface="Source Han Sans SC"/>
                <a:ea typeface="Source Han Sans SC"/>
              </a:rPr>
              <a:t>单一副本</a:t>
            </a:r>
            <a:r>
              <a:rPr lang="en-US" sz="825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825">
                <a:solidFill>
                  <a:srgbClr val="6B7280"/>
                </a:solidFill>
                <a:latin typeface="Source Han Sans SC"/>
                <a:ea typeface="Source Han Sans SC"/>
              </a:rPr>
              <a:t>单一治理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457200" y="1524000"/>
            <a:ext cx="5143500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  <p:txBody>
          <a:bodyPr/>
          <a:p/>
        </p:txBody>
      </p:sp>
      <p:sp>
        <p:nvSpPr>
          <p:cNvPr id="16" name=""/>
          <p:cNvSpPr/>
          <p:nvPr/>
        </p:nvSpPr>
        <p:spPr>
          <a:xfrm rot="0" flipH="0" flipV="0">
            <a:off x="981075" y="16478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1123950" y="1590675"/>
            <a:ext cx="4086225" cy="171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900">
                <a:solidFill>
                  <a:srgbClr val="1A1A1A"/>
                </a:solidFill>
                <a:latin typeface="Source Han Sans SC"/>
                <a:ea typeface="Source Han Sans SC"/>
              </a:rPr>
              <a:t>消费方：</a:t>
            </a:r>
            <a:r>
              <a:rPr lang="en-US" sz="900">
                <a:solidFill>
                  <a:srgbClr val="1A1A1A"/>
                </a:solidFill>
                <a:latin typeface="Source Han Sans SC"/>
                <a:ea typeface="Source Han Sans SC"/>
              </a:rPr>
              <a:t xml:space="preserve">Genie One · Genie Agents · Slack / Teams · </a:t>
            </a:r>
            <a:r>
              <a:rPr lang="zh-CN" sz="900">
                <a:solidFill>
                  <a:srgbClr val="1A1A1A"/>
                </a:solidFill>
                <a:latin typeface="Source Han Sans SC"/>
                <a:ea typeface="Source Han Sans SC"/>
              </a:rPr>
              <a:t>第三方</a:t>
            </a:r>
            <a:r>
              <a:rPr lang="en-US" sz="900">
                <a:solidFill>
                  <a:srgbClr val="1A1A1A"/>
                </a:solidFill>
                <a:latin typeface="Source Han Sans SC"/>
                <a:ea typeface="Source Han Sans SC"/>
              </a:rPr>
              <a:t xml:space="preserve"> Agent</a:t>
            </a:r>
            <a:r>
              <a:rPr lang="zh-CN" sz="900">
                <a:solidFill>
                  <a:srgbClr val="1A1A1A"/>
                </a:solidFill>
                <a:latin typeface="Source Han Sans SC"/>
                <a:ea typeface="Source Han Sans SC"/>
              </a:rPr>
              <a:t>（</a:t>
            </a:r>
            <a:r>
              <a:rPr lang="en-US" sz="900">
                <a:solidFill>
                  <a:srgbClr val="1A1A1A"/>
                </a:solidFill>
                <a:latin typeface="Source Han Sans SC"/>
                <a:ea typeface="Source Han Sans SC"/>
              </a:rPr>
              <a:t>MCP</a:t>
            </a:r>
            <a:r>
              <a:rPr lang="zh-CN" sz="900">
                <a:solidFill>
                  <a:srgbClr val="1A1A1A"/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pic>
        <p:nvPicPr>
          <p:cNvPr id="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905000"/>
            <a:ext cx="95250" cy="95250"/>
          </a:xfrm>
          <a:prstGeom prst="rect">
            <a:avLst/>
          </a:prstGeom>
          <a:ln/>
        </p:spPr>
      </p:pic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762000" y="1885950"/>
            <a:ext cx="1562100" cy="1428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750">
                <a:solidFill>
                  <a:srgbClr val="C8102E"/>
                </a:solidFill>
                <a:latin typeface="Source Han Sans SC"/>
                <a:ea typeface="Source Han Sans SC"/>
              </a:rPr>
              <a:t>自然语言提问</a:t>
            </a:r>
            <a:r>
              <a:rPr lang="en-US" sz="750">
                <a:solidFill>
                  <a:srgbClr val="C8102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750">
                <a:solidFill>
                  <a:srgbClr val="C8102E"/>
                </a:solidFill>
                <a:latin typeface="Source Han Sans SC"/>
                <a:ea typeface="Source Han Sans SC"/>
              </a:rPr>
              <a:t>定时任务</a:t>
            </a:r>
            <a:r>
              <a:rPr lang="en-US" sz="750">
                <a:solidFill>
                  <a:srgbClr val="C8102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750">
                <a:solidFill>
                  <a:srgbClr val="C8102E"/>
                </a:solidFill>
                <a:latin typeface="Source Han Sans SC"/>
                <a:ea typeface="Source Han Sans SC"/>
              </a:rPr>
              <a:t>触发动作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457200" y="2076450"/>
            <a:ext cx="514350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7C6CB"/>
            </a:solidFill>
            <a:prstDash val="solid"/>
          </a:ln>
        </p:spPr>
        <p:txBody>
          <a:bodyPr/>
          <a:p/>
        </p:txBody>
      </p:sp>
      <p:sp>
        <p:nvSpPr>
          <p:cNvPr id="21" name=""/>
          <p:cNvSpPr/>
          <p:nvPr/>
        </p:nvSpPr>
        <p:spPr>
          <a:xfrm rot="0" flipH="0" flipV="0">
            <a:off x="457200" y="2076450"/>
            <a:ext cx="5143500" cy="285750"/>
          </a:xfrm>
          <a:custGeom>
            <a:pathLst>
              <a:path w="540" h="30">
                <a:moveTo>
                  <a:pt x="532" y="0"/>
                </a:moveTo>
                <a:cubicBezTo>
                  <a:pt x="537" y="0"/>
                  <a:pt x="540" y="4"/>
                  <a:pt x="540" y="8"/>
                </a:cubicBezTo>
                <a:lnTo>
                  <a:pt x="540" y="30"/>
                </a:lnTo>
                <a:lnTo>
                  <a:pt x="0" y="30"/>
                </a:ln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lnTo>
                  <a:pt x="532" y="0"/>
                </a:lnTo>
                <a:close/>
              </a:path>
            </a:pathLst>
          </a:custGeom>
          <a:gradFill>
            <a:gsLst>
              <a:gs pos="0">
                <a:srgbClr val="C8102E"/>
              </a:gs>
              <a:gs pos="100000">
                <a:srgbClr val="A30D24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90550" y="2152650"/>
            <a:ext cx="133350" cy="133350"/>
          </a:xfrm>
          <a:prstGeom prst="rect">
            <a:avLst/>
          </a:prstGeom>
          <a:ln/>
        </p:spPr>
      </p:pic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800100" y="2105025"/>
            <a:ext cx="1724025" cy="228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238" b="1">
                <a:solidFill>
                  <a:srgbClr val="FFFFFF"/>
                </a:solidFill>
                <a:latin typeface="Source Han Sans SC"/>
                <a:ea typeface="Source Han Sans SC"/>
              </a:rPr>
              <a:t>Genie &amp; UC Semantics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4219575" y="2143125"/>
            <a:ext cx="1247775" cy="1524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788">
                <a:solidFill>
                  <a:srgbClr val="FBDDE1"/>
                </a:solidFill>
                <a:latin typeface="Source Han Sans SC"/>
                <a:ea typeface="Source Han Sans SC"/>
              </a:rPr>
              <a:t>上层</a:t>
            </a:r>
            <a:r>
              <a:rPr lang="en-US" sz="788">
                <a:solidFill>
                  <a:srgbClr val="FBDDE1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788">
                <a:solidFill>
                  <a:srgbClr val="FBDDE1"/>
                </a:solidFill>
                <a:latin typeface="Source Han Sans SC"/>
                <a:ea typeface="Source Han Sans SC"/>
              </a:rPr>
              <a:t>自研本体</a:t>
            </a:r>
            <a:r>
              <a:rPr lang="en-US" sz="788">
                <a:solidFill>
                  <a:srgbClr val="FBDDE1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788">
                <a:solidFill>
                  <a:srgbClr val="FBDDE1"/>
                </a:solidFill>
                <a:latin typeface="Source Han Sans SC"/>
                <a:ea typeface="Source Han Sans SC"/>
              </a:rPr>
              <a:t>指标语义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457200" y="2362200"/>
            <a:ext cx="5143500" cy="1123950"/>
          </a:xfrm>
          <a:custGeom>
            <a:pathLst>
              <a:path w="540" h="118">
                <a:moveTo>
                  <a:pt x="540" y="110"/>
                </a:moveTo>
                <a:cubicBezTo>
                  <a:pt x="540" y="114"/>
                  <a:pt x="536" y="118"/>
                  <a:pt x="532" y="118"/>
                </a:cubicBezTo>
                <a:lnTo>
                  <a:pt x="8" y="118"/>
                </a:lnTo>
                <a:cubicBezTo>
                  <a:pt x="4" y="118"/>
                  <a:pt x="0" y="114"/>
                  <a:pt x="0" y="110"/>
                </a:cubicBezTo>
                <a:lnTo>
                  <a:pt x="0" y="0"/>
                </a:lnTo>
                <a:lnTo>
                  <a:pt x="540" y="0"/>
                </a:lnTo>
                <a:close/>
              </a:path>
            </a:pathLst>
          </a:custGeom>
          <a:solidFill>
            <a:srgbClr val="FBEAEC"/>
          </a:solidFill>
          <a:ln/>
        </p:spPr>
        <p:txBody>
          <a:bodyPr/>
          <a:p/>
        </p:txBody>
      </p:sp>
      <p:sp>
        <p:nvSpPr>
          <p:cNvPr id="26" name=""/>
          <p:cNvSpPr/>
          <p:nvPr/>
        </p:nvSpPr>
        <p:spPr>
          <a:xfrm rot="0" flipH="0" flipV="0">
            <a:off x="533400" y="2438400"/>
            <a:ext cx="2466975" cy="4572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0D3D7"/>
            </a:solidFill>
            <a:prstDash val="solid"/>
          </a:ln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19125" y="2486025"/>
            <a:ext cx="2295525" cy="1714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900" b="1">
                <a:solidFill>
                  <a:srgbClr val="1A1A1A"/>
                </a:solidFill>
                <a:latin typeface="Source Han Sans SC"/>
                <a:ea typeface="Source Han Sans SC"/>
              </a:rPr>
              <a:t>Genie Ontology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19125" y="2676525"/>
            <a:ext cx="2295525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750">
                <a:solidFill>
                  <a:srgbClr val="4B5563"/>
                </a:solidFill>
                <a:latin typeface="Source Han Sans SC"/>
                <a:ea typeface="Source Han Sans SC"/>
              </a:rPr>
              <a:t xml:space="preserve">Databricks </a:t>
            </a:r>
            <a:r>
              <a:rPr lang="zh-CN" sz="750">
                <a:solidFill>
                  <a:srgbClr val="4B5563"/>
                </a:solidFill>
                <a:latin typeface="Source Han Sans SC"/>
                <a:ea typeface="Source Han Sans SC"/>
              </a:rPr>
              <a:t>自研知识图谱，后台持续构建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3057525" y="2438400"/>
            <a:ext cx="2466975" cy="4572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0D3D7"/>
            </a:solidFill>
            <a:prstDash val="solid"/>
          </a:ln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3143250" y="2486025"/>
            <a:ext cx="2295525" cy="1714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900" b="1">
                <a:solidFill>
                  <a:srgbClr val="1A1A1A"/>
                </a:solidFill>
                <a:latin typeface="Source Han Sans SC"/>
                <a:ea typeface="Source Han Sans SC"/>
              </a:rPr>
              <a:t>Metric Views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3143250" y="2676525"/>
            <a:ext cx="2295525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4B5563"/>
                </a:solidFill>
                <a:latin typeface="Source Han Sans SC"/>
                <a:ea typeface="Source Han Sans SC"/>
              </a:rPr>
              <a:t>指标一次定义，查询时解析聚合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533400" y="2952750"/>
            <a:ext cx="2466975" cy="4572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0D3D7"/>
            </a:solidFill>
            <a:prstDash val="solid"/>
          </a:ln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19125" y="3000375"/>
            <a:ext cx="2295525" cy="1714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900" b="1">
                <a:solidFill>
                  <a:srgbClr val="1A1A1A"/>
                </a:solidFill>
                <a:latin typeface="Source Han Sans SC"/>
                <a:ea typeface="Source Han Sans SC"/>
              </a:rPr>
              <a:t xml:space="preserve">OntoRank </a:t>
            </a:r>
            <a:r>
              <a:rPr lang="zh-CN" sz="900" b="1">
                <a:solidFill>
                  <a:srgbClr val="1A1A1A"/>
                </a:solidFill>
                <a:latin typeface="Source Han Sans SC"/>
                <a:ea typeface="Source Han Sans SC"/>
              </a:rPr>
              <a:t>权威排序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19125" y="3190875"/>
            <a:ext cx="2295525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4B5563"/>
                </a:solidFill>
                <a:latin typeface="Source Han Sans SC"/>
                <a:ea typeface="Source Han Sans SC"/>
              </a:rPr>
              <a:t>按作者</a:t>
            </a:r>
            <a:r>
              <a:rPr lang="en-US" sz="750">
                <a:solidFill>
                  <a:srgbClr val="4B5563"/>
                </a:solidFill>
                <a:latin typeface="Source Han Sans SC"/>
                <a:ea typeface="Source Han Sans SC"/>
              </a:rPr>
              <a:t>/</a:t>
            </a:r>
            <a:r>
              <a:rPr lang="zh-CN" sz="750">
                <a:solidFill>
                  <a:srgbClr val="4B5563"/>
                </a:solidFill>
                <a:latin typeface="Source Han Sans SC"/>
                <a:ea typeface="Source Han Sans SC"/>
              </a:rPr>
              <a:t>引用</a:t>
            </a:r>
            <a:r>
              <a:rPr lang="en-US" sz="750">
                <a:solidFill>
                  <a:srgbClr val="4B5563"/>
                </a:solidFill>
                <a:latin typeface="Source Han Sans SC"/>
                <a:ea typeface="Source Han Sans SC"/>
              </a:rPr>
              <a:t>/</a:t>
            </a:r>
            <a:r>
              <a:rPr lang="zh-CN" sz="750">
                <a:solidFill>
                  <a:srgbClr val="4B5563"/>
                </a:solidFill>
                <a:latin typeface="Source Han Sans SC"/>
                <a:ea typeface="Source Han Sans SC"/>
              </a:rPr>
              <a:t>时效消解同名异义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3057525" y="2952750"/>
            <a:ext cx="2466975" cy="4572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0D3D7"/>
            </a:solidFill>
            <a:prstDash val="solid"/>
          </a:ln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3143250" y="3000375"/>
            <a:ext cx="2295525" cy="1714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900" b="1">
                <a:solidFill>
                  <a:srgbClr val="1A1A1A"/>
                </a:solidFill>
                <a:latin typeface="Source Han Sans SC"/>
                <a:ea typeface="Source Han Sans SC"/>
              </a:rPr>
              <a:t>Domains &amp; MCP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3143250" y="3190875"/>
            <a:ext cx="2295525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4B5563"/>
                </a:solidFill>
                <a:latin typeface="Source Han Sans SC"/>
                <a:ea typeface="Source Han Sans SC"/>
              </a:rPr>
              <a:t>术语</a:t>
            </a:r>
            <a:r>
              <a:rPr lang="en-US" sz="750">
                <a:solidFill>
                  <a:srgbClr val="4B5563"/>
                </a:solidFill>
                <a:latin typeface="Source Han Sans SC"/>
                <a:ea typeface="Source Han Sans SC"/>
              </a:rPr>
              <a:t>/</a:t>
            </a:r>
            <a:r>
              <a:rPr lang="zh-CN" sz="750">
                <a:solidFill>
                  <a:srgbClr val="4B5563"/>
                </a:solidFill>
                <a:latin typeface="Source Han Sans SC"/>
                <a:ea typeface="Source Han Sans SC"/>
              </a:rPr>
              <a:t>页面</a:t>
            </a:r>
            <a:r>
              <a:rPr lang="en-US" sz="750">
                <a:solidFill>
                  <a:srgbClr val="4B5563"/>
                </a:solidFill>
                <a:latin typeface="Source Han Sans SC"/>
                <a:ea typeface="Source Han Sans SC"/>
              </a:rPr>
              <a:t>/</a:t>
            </a:r>
            <a:r>
              <a:rPr lang="zh-CN" sz="750">
                <a:solidFill>
                  <a:srgbClr val="4B5563"/>
                </a:solidFill>
                <a:latin typeface="Source Han Sans SC"/>
                <a:ea typeface="Source Han Sans SC"/>
              </a:rPr>
              <a:t>资产归属，</a:t>
            </a:r>
            <a:r>
              <a:rPr lang="en-US" sz="750">
                <a:solidFill>
                  <a:srgbClr val="4B5563"/>
                </a:solidFill>
                <a:latin typeface="Source Han Sans SC"/>
                <a:ea typeface="Source Han Sans SC"/>
              </a:rPr>
              <a:t xml:space="preserve">MCP </a:t>
            </a:r>
            <a:r>
              <a:rPr lang="zh-CN" sz="750">
                <a:solidFill>
                  <a:srgbClr val="4B5563"/>
                </a:solidFill>
                <a:latin typeface="Source Han Sans SC"/>
                <a:ea typeface="Source Han Sans SC"/>
              </a:rPr>
              <a:t>全域共享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457200" y="3543300"/>
            <a:ext cx="5143500" cy="495300"/>
          </a:xfrm>
          <a:prstGeom prst="roundRect">
            <a:avLst>
              <a:gd name="adj" fmla="val 13462"/>
            </a:avLst>
          </a:prstGeom>
          <a:solidFill>
            <a:srgbClr val="C8102E"/>
          </a:solidFill>
          <a:ln/>
        </p:spPr>
        <p:txBody>
          <a:bodyPr/>
          <a:p/>
        </p:txBody>
      </p:sp>
      <p:pic>
        <p:nvPicPr>
          <p:cNvPr id="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571500" y="3724275"/>
            <a:ext cx="142875" cy="142875"/>
          </a:xfrm>
          <a:prstGeom prst="rect">
            <a:avLst/>
          </a:prstGeom>
          <a:ln/>
        </p:spPr>
      </p:pic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09625" y="3619500"/>
            <a:ext cx="4676775" cy="1714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900" b="1">
                <a:solidFill>
                  <a:srgbClr val="FFFFFF"/>
                </a:solidFill>
                <a:latin typeface="Source Han Sans SC"/>
                <a:ea typeface="Source Han Sans SC"/>
              </a:rPr>
              <a:t xml:space="preserve">Lakebase </a:t>
            </a:r>
            <a:r>
              <a:rPr lang="zh-CN" sz="900" b="1">
                <a:solidFill>
                  <a:srgbClr val="FFFFFF"/>
                </a:solidFill>
                <a:latin typeface="Source Han Sans SC"/>
                <a:ea typeface="Source Han Sans SC"/>
              </a:rPr>
              <a:t>如何支撑</a:t>
            </a:r>
            <a:r>
              <a:rPr lang="en-US" sz="900" b="1">
                <a:solidFill>
                  <a:srgbClr val="FFFFFF"/>
                </a:solidFill>
                <a:latin typeface="Source Han Sans SC"/>
                <a:ea typeface="Source Han Sans SC"/>
              </a:rPr>
              <a:t xml:space="preserve"> Genie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809625" y="3810000"/>
            <a:ext cx="4676775" cy="1619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50">
                <a:solidFill>
                  <a:srgbClr val="FBDDE1"/>
                </a:solidFill>
                <a:latin typeface="Source Han Sans SC"/>
                <a:ea typeface="Source Han Sans SC"/>
              </a:rPr>
              <a:t>会话状态与长期记忆</a:t>
            </a:r>
            <a:r>
              <a:rPr lang="en-US" sz="750">
                <a:solidFill>
                  <a:srgbClr val="FBDDE1"/>
                </a:solidFill>
                <a:latin typeface="Source Han Sans SC"/>
                <a:ea typeface="Source Han Sans SC"/>
              </a:rPr>
              <a:t xml:space="preserve"> · LangGraph Checkpoint </a:t>
            </a:r>
            <a:r>
              <a:rPr lang="zh-CN" sz="750">
                <a:solidFill>
                  <a:srgbClr val="FBDDE1"/>
                </a:solidFill>
                <a:latin typeface="Source Han Sans SC"/>
                <a:ea typeface="Source Han Sans SC"/>
              </a:rPr>
              <a:t>与时间旅行</a:t>
            </a:r>
            <a:r>
              <a:rPr lang="en-US" sz="750">
                <a:solidFill>
                  <a:srgbClr val="FBDDE1"/>
                </a:solidFill>
                <a:latin typeface="Source Han Sans SC"/>
                <a:ea typeface="Source Han Sans SC"/>
              </a:rPr>
              <a:t xml:space="preserve"> · pgvector </a:t>
            </a:r>
            <a:r>
              <a:rPr lang="zh-CN" sz="750">
                <a:solidFill>
                  <a:srgbClr val="FBDDE1"/>
                </a:solidFill>
                <a:latin typeface="Source Han Sans SC"/>
                <a:ea typeface="Source Han Sans SC"/>
              </a:rPr>
              <a:t>同一库检索</a:t>
            </a:r>
            <a:r>
              <a:rPr lang="en-US" sz="750">
                <a:solidFill>
                  <a:srgbClr val="FBDDE1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750">
                <a:solidFill>
                  <a:srgbClr val="FBDDE1"/>
                </a:solidFill>
                <a:latin typeface="Source Han Sans SC"/>
                <a:ea typeface="Source Han Sans SC"/>
              </a:rPr>
              <a:t>每</a:t>
            </a:r>
            <a:r>
              <a:rPr lang="en-US" sz="750">
                <a:solidFill>
                  <a:srgbClr val="FBDDE1"/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750">
                <a:solidFill>
                  <a:srgbClr val="FBDDE1"/>
                </a:solidFill>
                <a:latin typeface="Source Han Sans SC"/>
                <a:ea typeface="Source Han Sans SC"/>
              </a:rPr>
              <a:t>沙箱分支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495300" y="4095750"/>
            <a:ext cx="5143500" cy="266700"/>
          </a:xfrm>
          <a:prstGeom prst="roundRect">
            <a:avLst>
              <a:gd name="adj" fmla="val 21429"/>
            </a:avLst>
          </a:prstGeom>
          <a:solidFill>
            <a:srgbClr val="FBEAEC"/>
          </a:solidFill>
          <a:ln/>
        </p:spPr>
        <p:txBody>
          <a:bodyPr/>
          <a:p/>
        </p:txBody>
      </p:sp>
      <p:sp>
        <p:nvSpPr>
          <p:cNvPr id="43" name=""/>
          <p:cNvSpPr/>
          <p:nvPr/>
        </p:nvSpPr>
        <p:spPr>
          <a:xfrm rot="0" flipH="0" flipV="0">
            <a:off x="495300" y="4095750"/>
            <a:ext cx="5143500" cy="266700"/>
          </a:xfrm>
          <a:custGeom>
            <a:pathLst>
              <a:path w="540" h="28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26"/>
                </a:lnTo>
                <a:cubicBezTo>
                  <a:pt x="4" y="27"/>
                  <a:pt x="5" y="28"/>
                  <a:pt x="6" y="28"/>
                </a:cubicBezTo>
                <a:cubicBezTo>
                  <a:pt x="3" y="28"/>
                  <a:pt x="0" y="25"/>
                  <a:pt x="0" y="2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C8102E"/>
          </a:solidFill>
          <a:ln/>
        </p:spPr>
        <p:txBody>
          <a:bodyPr/>
          <a:p/>
        </p:txBody>
      </p:sp>
      <p:pic>
        <p:nvPicPr>
          <p:cNvPr id="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1409700" y="4171950"/>
            <a:ext cx="114300" cy="114300"/>
          </a:xfrm>
          <a:prstGeom prst="rect">
            <a:avLst/>
          </a:prstGeom>
          <a:ln/>
        </p:spPr>
      </p:pic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600200" y="4152900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863" b="1">
                <a:solidFill>
                  <a:srgbClr val="C8102E"/>
                </a:solidFill>
                <a:latin typeface="Source Han Sans SC"/>
                <a:ea typeface="Source Han Sans SC"/>
              </a:rPr>
              <a:t xml:space="preserve">Unity Catalog </a:t>
            </a:r>
            <a:r>
              <a:rPr lang="zh-CN" sz="863" b="1">
                <a:solidFill>
                  <a:srgbClr val="C8102E"/>
                </a:solidFill>
                <a:latin typeface="Source Han Sans SC"/>
                <a:ea typeface="Source Han Sans SC"/>
              </a:rPr>
              <a:t>横切治理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2867025" y="4162425"/>
            <a:ext cx="1943100" cy="1428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750">
                <a:solidFill>
                  <a:srgbClr val="6B7280"/>
                </a:solidFill>
                <a:latin typeface="Source Han Sans SC"/>
                <a:ea typeface="Source Han Sans SC"/>
              </a:rPr>
              <a:t>对话历史与业务数据同一套权限</a:t>
            </a:r>
            <a:r>
              <a:rPr lang="en-US" sz="750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750">
                <a:solidFill>
                  <a:srgbClr val="6B7280"/>
                </a:solidFill>
                <a:latin typeface="Source Han Sans SC"/>
                <a:ea typeface="Source Han Sans SC"/>
              </a:rPr>
              <a:t>血缘</a:t>
            </a:r>
            <a:r>
              <a:rPr lang="en-US" sz="750">
                <a:solidFill>
                  <a:srgbClr val="6B728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750">
                <a:solidFill>
                  <a:srgbClr val="6B7280"/>
                </a:solidFill>
                <a:latin typeface="Source Han Sans SC"/>
                <a:ea typeface="Source Han Sans SC"/>
              </a:rPr>
              <a:t>审计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457200" y="4419600"/>
            <a:ext cx="514350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5D8DD"/>
            </a:solidFill>
            <a:prstDash val="solid"/>
          </a:ln>
        </p:spPr>
        <p:txBody>
          <a:bodyPr/>
          <a:p/>
        </p:txBody>
      </p:sp>
      <p:sp>
        <p:nvSpPr>
          <p:cNvPr id="48" name=""/>
          <p:cNvSpPr/>
          <p:nvPr/>
        </p:nvSpPr>
        <p:spPr>
          <a:xfrm rot="0" flipH="0" flipV="0">
            <a:off x="457200" y="4419600"/>
            <a:ext cx="5143500" cy="285750"/>
          </a:xfrm>
          <a:custGeom>
            <a:pathLst>
              <a:path w="540" h="30">
                <a:moveTo>
                  <a:pt x="532" y="0"/>
                </a:moveTo>
                <a:cubicBezTo>
                  <a:pt x="537" y="0"/>
                  <a:pt x="540" y="4"/>
                  <a:pt x="540" y="8"/>
                </a:cubicBezTo>
                <a:lnTo>
                  <a:pt x="540" y="30"/>
                </a:lnTo>
                <a:lnTo>
                  <a:pt x="0" y="30"/>
                </a:ln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lnTo>
                  <a:pt x="532" y="0"/>
                </a:lnTo>
                <a:close/>
              </a:path>
            </a:pathLst>
          </a:custGeom>
          <a:gradFill>
            <a:gsLst>
              <a:gs pos="0">
                <a:srgbClr val="2A2A2E"/>
              </a:gs>
              <a:gs pos="100000">
                <a:srgbClr val="4A4A50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590550" y="4495800"/>
            <a:ext cx="133350" cy="133350"/>
          </a:xfrm>
          <a:prstGeom prst="rect">
            <a:avLst/>
          </a:prstGeom>
          <a:ln/>
        </p:spPr>
      </p:pic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800100" y="4448175"/>
            <a:ext cx="723900" cy="228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238" b="1">
                <a:solidFill>
                  <a:srgbClr val="FFFFFF"/>
                </a:solidFill>
                <a:latin typeface="Source Han Sans SC"/>
                <a:ea typeface="Source Han Sans SC"/>
              </a:rPr>
              <a:t>Lakebase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3790950" y="4486275"/>
            <a:ext cx="1676400" cy="1524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788">
                <a:solidFill>
                  <a:srgbClr val="D7D8DC"/>
                </a:solidFill>
                <a:latin typeface="Source Han Sans SC"/>
                <a:ea typeface="Source Han Sans SC"/>
              </a:rPr>
              <a:t>下层</a:t>
            </a:r>
            <a:r>
              <a:rPr lang="en-US" sz="788">
                <a:solidFill>
                  <a:srgbClr val="D7D8DC"/>
                </a:solidFill>
                <a:latin typeface="Source Han Sans SC"/>
                <a:ea typeface="Source Han Sans SC"/>
              </a:rPr>
              <a:t xml:space="preserve"> · Serverless Postgres </a:t>
            </a:r>
            <a:r>
              <a:rPr lang="zh-CN" sz="788">
                <a:solidFill>
                  <a:srgbClr val="D7D8DC"/>
                </a:solidFill>
                <a:latin typeface="Source Han Sans SC"/>
                <a:ea typeface="Source Han Sans SC"/>
              </a:rPr>
              <a:t>状态底座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457200" y="4705350"/>
            <a:ext cx="5143500" cy="1123950"/>
          </a:xfrm>
          <a:custGeom>
            <a:pathLst>
              <a:path w="540" h="118">
                <a:moveTo>
                  <a:pt x="540" y="110"/>
                </a:moveTo>
                <a:cubicBezTo>
                  <a:pt x="540" y="114"/>
                  <a:pt x="536" y="118"/>
                  <a:pt x="532" y="118"/>
                </a:cubicBezTo>
                <a:lnTo>
                  <a:pt x="8" y="118"/>
                </a:lnTo>
                <a:cubicBezTo>
                  <a:pt x="4" y="118"/>
                  <a:pt x="0" y="114"/>
                  <a:pt x="0" y="110"/>
                </a:cubicBezTo>
                <a:lnTo>
                  <a:pt x="0" y="0"/>
                </a:lnTo>
                <a:lnTo>
                  <a:pt x="540" y="0"/>
                </a:lnTo>
                <a:close/>
              </a:path>
            </a:pathLst>
          </a:custGeom>
          <a:solidFill>
            <a:srgbClr val="F4F5F7"/>
          </a:solidFill>
          <a:ln/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533400" y="4781550"/>
            <a:ext cx="2466975" cy="4572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19125" y="4829175"/>
            <a:ext cx="2295525" cy="1714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900" b="1">
                <a:solidFill>
                  <a:srgbClr val="1A1A1A"/>
                </a:solidFill>
                <a:latin typeface="Source Han Sans SC"/>
                <a:ea typeface="Source Han Sans SC"/>
              </a:rPr>
              <a:t>对象存储</a:t>
            </a:r>
            <a:r>
              <a:rPr lang="en-US" sz="900" b="1">
                <a:solidFill>
                  <a:srgbClr val="1A1A1A"/>
                </a:solidFill>
                <a:latin typeface="Source Han Sans SC"/>
                <a:ea typeface="Source Han Sans SC"/>
              </a:rPr>
              <a:t xml:space="preserve"> WAL · LSN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19125" y="5019675"/>
            <a:ext cx="2295525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4B5563"/>
                </a:solidFill>
                <a:latin typeface="Source Han Sans SC"/>
                <a:ea typeface="Source Han Sans SC"/>
              </a:rPr>
              <a:t>事务历史外置，副本即引用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3057525" y="4781550"/>
            <a:ext cx="2466975" cy="4572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3143250" y="4829175"/>
            <a:ext cx="2295525" cy="1714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900" b="1">
                <a:solidFill>
                  <a:srgbClr val="1A1A1A"/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900" b="1">
                <a:solidFill>
                  <a:srgbClr val="1A1A1A"/>
                </a:solidFill>
                <a:latin typeface="Source Han Sans SC"/>
                <a:ea typeface="Source Han Sans SC"/>
              </a:rPr>
              <a:t>状态与记忆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3143250" y="5019675"/>
            <a:ext cx="2295525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4B5563"/>
                </a:solidFill>
                <a:latin typeface="Source Han Sans SC"/>
                <a:ea typeface="Source Han Sans SC"/>
              </a:rPr>
              <a:t>短期线程</a:t>
            </a:r>
            <a:r>
              <a:rPr lang="en-US" sz="750">
                <a:solidFill>
                  <a:srgbClr val="4B5563"/>
                </a:solidFill>
                <a:latin typeface="Source Han Sans SC"/>
                <a:ea typeface="Source Han Sans SC"/>
              </a:rPr>
              <a:t>+</a:t>
            </a:r>
            <a:r>
              <a:rPr lang="zh-CN" sz="750">
                <a:solidFill>
                  <a:srgbClr val="4B5563"/>
                </a:solidFill>
                <a:latin typeface="Source Han Sans SC"/>
                <a:ea typeface="Source Han Sans SC"/>
              </a:rPr>
              <a:t>长期记忆落标准表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533400" y="5295900"/>
            <a:ext cx="2466975" cy="4572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19125" y="5343525"/>
            <a:ext cx="2295525" cy="1714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900" b="1">
                <a:solidFill>
                  <a:srgbClr val="1A1A1A"/>
                </a:solidFill>
                <a:latin typeface="Source Han Sans SC"/>
                <a:ea typeface="Source Han Sans SC"/>
              </a:rPr>
              <a:t xml:space="preserve">pgvector </a:t>
            </a:r>
            <a:r>
              <a:rPr lang="zh-CN" sz="900" b="1">
                <a:solidFill>
                  <a:srgbClr val="1A1A1A"/>
                </a:solidFill>
                <a:latin typeface="Source Han Sans SC"/>
                <a:ea typeface="Source Han Sans SC"/>
              </a:rPr>
              <a:t>同库检索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19125" y="5534025"/>
            <a:ext cx="2295525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4B5563"/>
                </a:solidFill>
                <a:latin typeface="Source Han Sans SC"/>
                <a:ea typeface="Source Han Sans SC"/>
              </a:rPr>
              <a:t>向量</a:t>
            </a:r>
            <a:r>
              <a:rPr lang="en-US" sz="750">
                <a:solidFill>
                  <a:srgbClr val="4B5563"/>
                </a:solidFill>
                <a:latin typeface="Source Han Sans SC"/>
                <a:ea typeface="Source Han Sans SC"/>
              </a:rPr>
              <a:t>+</a:t>
            </a:r>
            <a:r>
              <a:rPr lang="zh-CN" sz="750">
                <a:solidFill>
                  <a:srgbClr val="4B5563"/>
                </a:solidFill>
                <a:latin typeface="Source Han Sans SC"/>
                <a:ea typeface="Source Han Sans SC"/>
              </a:rPr>
              <a:t>文本混合检索免另设服务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3057525" y="5295900"/>
            <a:ext cx="2466975" cy="4572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3143250" y="5343525"/>
            <a:ext cx="2295525" cy="1714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900" b="1">
                <a:solidFill>
                  <a:srgbClr val="1A1A1A"/>
                </a:solidFill>
                <a:latin typeface="Source Han Sans SC"/>
                <a:ea typeface="Source Han Sans SC"/>
              </a:rPr>
              <a:t xml:space="preserve">CDF </a:t>
            </a:r>
            <a:r>
              <a:rPr lang="zh-CN" sz="900" b="1">
                <a:solidFill>
                  <a:srgbClr val="1A1A1A"/>
                </a:solidFill>
                <a:latin typeface="Source Han Sans SC"/>
                <a:ea typeface="Source Han Sans SC"/>
              </a:rPr>
              <a:t>回流</a:t>
            </a:r>
            <a:r>
              <a:rPr lang="en-US" sz="900" b="1">
                <a:solidFill>
                  <a:srgbClr val="1A1A1A"/>
                </a:solidFill>
                <a:latin typeface="Source Han Sans SC"/>
                <a:ea typeface="Source Han Sans SC"/>
              </a:rPr>
              <a:t xml:space="preserve"> · Synced Tables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3143250" y="5534025"/>
            <a:ext cx="2295525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4B5563"/>
                </a:solidFill>
                <a:latin typeface="Source Han Sans SC"/>
                <a:ea typeface="Source Han Sans SC"/>
              </a:rPr>
              <a:t>对话记录回写</a:t>
            </a:r>
            <a:r>
              <a:rPr lang="en-US" sz="750">
                <a:solidFill>
                  <a:srgbClr val="4B5563"/>
                </a:solidFill>
                <a:latin typeface="Source Han Sans SC"/>
                <a:ea typeface="Source Han Sans SC"/>
              </a:rPr>
              <a:t xml:space="preserve"> Delta </a:t>
            </a:r>
            <a:r>
              <a:rPr lang="zh-CN" sz="750">
                <a:solidFill>
                  <a:srgbClr val="4B5563"/>
                </a:solidFill>
                <a:latin typeface="Source Han Sans SC"/>
                <a:ea typeface="Source Han Sans SC"/>
              </a:rPr>
              <a:t>供评测</a:t>
            </a:r>
            <a:endParaRPr/>
          </a:p>
        </p:txBody>
      </p:sp>
      <p:pic>
        <p:nvPicPr>
          <p:cNvPr id="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5905500"/>
            <a:ext cx="95250" cy="95250"/>
          </a:xfrm>
          <a:prstGeom prst="rect">
            <a:avLst/>
          </a:prstGeom>
          <a:ln/>
        </p:spPr>
      </p:pic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762000" y="5886450"/>
            <a:ext cx="1666875" cy="1428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750">
                <a:solidFill>
                  <a:srgbClr val="C8102E"/>
                </a:solidFill>
                <a:latin typeface="Source Han Sans SC"/>
                <a:ea typeface="Source Han Sans SC"/>
              </a:rPr>
              <a:t>事务落库即入湖：无</a:t>
            </a:r>
            <a:r>
              <a:rPr lang="en-US" sz="750">
                <a:solidFill>
                  <a:srgbClr val="C8102E"/>
                </a:solidFill>
                <a:latin typeface="Source Han Sans SC"/>
                <a:ea typeface="Source Han Sans SC"/>
              </a:rPr>
              <a:t xml:space="preserve"> CDC</a:t>
            </a:r>
            <a:r>
              <a:rPr lang="zh-CN" sz="750">
                <a:solidFill>
                  <a:srgbClr val="C8102E"/>
                </a:solidFill>
                <a:latin typeface="Source Han Sans SC"/>
                <a:ea typeface="Source Han Sans SC"/>
              </a:rPr>
              <a:t>、无镜像副本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457200" y="6076950"/>
            <a:ext cx="5143500" cy="285750"/>
          </a:xfrm>
          <a:prstGeom prst="roundRect">
            <a:avLst>
              <a:gd name="adj" fmla="val 20000"/>
            </a:avLst>
          </a:prstGeom>
          <a:solidFill>
            <a:srgbClr val="1A1A1A"/>
          </a:solidFill>
          <a:ln/>
        </p:spPr>
        <p:txBody>
          <a:bodyPr/>
          <a:p/>
        </p:txBody>
      </p:sp>
      <p:pic>
        <p:nvPicPr>
          <p:cNvPr id="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1219200" y="6162675"/>
            <a:ext cx="123825" cy="123825"/>
          </a:xfrm>
          <a:prstGeom prst="rect">
            <a:avLst/>
          </a:prstGeom>
          <a:ln/>
        </p:spPr>
      </p:pic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428750" y="6134100"/>
            <a:ext cx="3552825" cy="171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900">
                <a:solidFill>
                  <a:srgbClr val="FFFFFF"/>
                </a:solidFill>
                <a:latin typeface="Source Han Sans SC"/>
                <a:ea typeface="Source Han Sans SC"/>
              </a:rPr>
              <a:t>开放存储层</a:t>
            </a:r>
            <a:r>
              <a:rPr lang="en-US" sz="900">
                <a:solidFill>
                  <a:srgbClr val="FFFFFF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en-US" sz="900" b="1">
                <a:solidFill>
                  <a:srgbClr val="FFFFFF"/>
                </a:solidFill>
                <a:latin typeface="Source Han Sans SC"/>
                <a:ea typeface="Source Han Sans SC"/>
              </a:rPr>
              <a:t>Delta / Iceberg</a:t>
            </a:r>
            <a:r>
              <a:rPr lang="en-US" sz="900">
                <a:solidFill>
                  <a:srgbClr val="FFFFFF"/>
                </a:solidFill>
                <a:latin typeface="Source Han Sans SC"/>
                <a:ea typeface="Source Han Sans SC"/>
              </a:rPr>
              <a:t xml:space="preserve"> —— </a:t>
            </a:r>
            <a:r>
              <a:rPr lang="zh-CN" sz="900">
                <a:solidFill>
                  <a:srgbClr val="FFFFFF"/>
                </a:solidFill>
                <a:latin typeface="Source Han Sans SC"/>
                <a:ea typeface="Source Han Sans SC"/>
              </a:rPr>
              <a:t>交易、流式、分析共用同一份数据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5772150" y="1295400"/>
            <a:ext cx="38100" cy="13335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5886450" y="1276350"/>
            <a:ext cx="1771650" cy="1809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975" b="1">
                <a:solidFill>
                  <a:srgbClr val="1A1A1A"/>
                </a:solidFill>
                <a:latin typeface="Source Han Sans SC"/>
                <a:ea typeface="Source Han Sans SC"/>
              </a:rPr>
              <a:t xml:space="preserve">Lakebase </a:t>
            </a:r>
            <a:r>
              <a:rPr lang="zh-CN" sz="975" b="1">
                <a:solidFill>
                  <a:srgbClr val="1A1A1A"/>
                </a:solidFill>
                <a:latin typeface="Source Han Sans SC"/>
                <a:ea typeface="Source Han Sans SC"/>
              </a:rPr>
              <a:t>对</a:t>
            </a:r>
            <a:r>
              <a:rPr lang="en-US" sz="975" b="1">
                <a:solidFill>
                  <a:srgbClr val="1A1A1A"/>
                </a:solidFill>
                <a:latin typeface="Source Han Sans SC"/>
                <a:ea typeface="Source Han Sans SC"/>
              </a:rPr>
              <a:t xml:space="preserve"> Genie </a:t>
            </a:r>
            <a:r>
              <a:rPr lang="zh-CN" sz="975" b="1">
                <a:solidFill>
                  <a:srgbClr val="1A1A1A"/>
                </a:solidFill>
                <a:latin typeface="Source Han Sans SC"/>
                <a:ea typeface="Source Han Sans SC"/>
              </a:rPr>
              <a:t>的四层支撑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7734300" y="1285875"/>
            <a:ext cx="942975" cy="1524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825">
                <a:solidFill>
                  <a:srgbClr val="6B7280"/>
                </a:solidFill>
                <a:latin typeface="Source Han Sans SC"/>
                <a:ea typeface="Source Han Sans SC"/>
              </a:rPr>
              <a:t>从语义准确到可执行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5810250" y="1524000"/>
            <a:ext cx="5962650" cy="1171575"/>
          </a:xfrm>
          <a:prstGeom prst="roundRect">
            <a:avLst>
              <a:gd name="adj" fmla="val 56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4" name=""/>
          <p:cNvSpPr/>
          <p:nvPr/>
        </p:nvSpPr>
        <p:spPr>
          <a:xfrm rot="0" flipH="0" flipV="0">
            <a:off x="5810250" y="1524000"/>
            <a:ext cx="5962650" cy="1171575"/>
          </a:xfrm>
          <a:custGeom>
            <a:pathLst>
              <a:path w="626" h="123">
                <a:moveTo>
                  <a:pt x="7" y="0"/>
                </a:moveTo>
                <a:cubicBezTo>
                  <a:pt x="5" y="0"/>
                  <a:pt x="4" y="1"/>
                  <a:pt x="4" y="3"/>
                </a:cubicBezTo>
                <a:lnTo>
                  <a:pt x="4" y="120"/>
                </a:lnTo>
                <a:cubicBezTo>
                  <a:pt x="4" y="122"/>
                  <a:pt x="5" y="123"/>
                  <a:pt x="7" y="123"/>
                </a:cubicBezTo>
                <a:cubicBezTo>
                  <a:pt x="3" y="123"/>
                  <a:pt x="0" y="120"/>
                  <a:pt x="0" y="116"/>
                </a:cubicBezTo>
                <a:lnTo>
                  <a:pt x="0" y="7"/>
                </a:lnTo>
                <a:cubicBezTo>
                  <a:pt x="0" y="3"/>
                  <a:pt x="3" y="0"/>
                  <a:pt x="7" y="0"/>
                </a:cubicBezTo>
                <a:close/>
              </a:path>
            </a:pathLst>
          </a:custGeom>
          <a:solidFill>
            <a:srgbClr val="E7E9ED"/>
          </a:solidFill>
          <a:ln/>
        </p:spPr>
        <p:txBody>
          <a:bodyPr/>
          <a:p/>
        </p:txBody>
      </p:sp>
      <p:pic>
        <p:nvPicPr>
          <p:cNvPr id="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5943600" y="1647825"/>
            <a:ext cx="142875" cy="142875"/>
          </a:xfrm>
          <a:prstGeom prst="rect">
            <a:avLst/>
          </a:prstGeom>
          <a:ln/>
        </p:spPr>
      </p:pic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162675" y="1609725"/>
            <a:ext cx="3352800" cy="2190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125" b="1">
                <a:solidFill>
                  <a:srgbClr val="1A1A1A"/>
                </a:solidFill>
                <a:latin typeface="Source Han Sans SC"/>
                <a:ea typeface="Source Han Sans SC"/>
              </a:rPr>
              <a:t>状态与记忆：让</a:t>
            </a:r>
            <a:r>
              <a:rPr lang="en-US" sz="1125" b="1">
                <a:solidFill>
                  <a:srgbClr val="1A1A1A"/>
                </a:solidFill>
                <a:latin typeface="Source Han Sans SC"/>
                <a:ea typeface="Source Han Sans SC"/>
              </a:rPr>
              <a:t xml:space="preserve"> Genie </a:t>
            </a:r>
            <a:r>
              <a:rPr lang="zh-CN" sz="1125" b="1">
                <a:solidFill>
                  <a:srgbClr val="1A1A1A"/>
                </a:solidFill>
                <a:latin typeface="Source Han Sans SC"/>
                <a:ea typeface="Source Han Sans SC"/>
              </a:rPr>
              <a:t>记得住，而不是每次从零开始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5943600" y="1876425"/>
            <a:ext cx="56578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74151"/>
                </a:solidFill>
                <a:latin typeface="Source Han Sans SC"/>
                <a:ea typeface="Source Han Sans SC"/>
              </a:rPr>
              <a:t>会话状态、线程</a:t>
            </a:r>
            <a:r>
              <a:rPr lang="en-US" sz="900">
                <a:solidFill>
                  <a:srgbClr val="374151"/>
                </a:solidFill>
                <a:latin typeface="Source Han Sans SC"/>
                <a:ea typeface="Source Han Sans SC"/>
              </a:rPr>
              <a:t xml:space="preserve"> ID </a:t>
            </a:r>
            <a:r>
              <a:rPr lang="zh-CN" sz="900">
                <a:solidFill>
                  <a:srgbClr val="374151"/>
                </a:solidFill>
                <a:latin typeface="Source Han Sans SC"/>
                <a:ea typeface="Source Han Sans SC"/>
              </a:rPr>
              <a:t>与长期用户记忆直接写进标准</a:t>
            </a:r>
            <a:r>
              <a:rPr lang="en-US" sz="900">
                <a:solidFill>
                  <a:srgbClr val="374151"/>
                </a:solidFill>
                <a:latin typeface="Source Han Sans SC"/>
                <a:ea typeface="Source Han Sans SC"/>
              </a:rPr>
              <a:t xml:space="preserve"> Postgres </a:t>
            </a:r>
            <a:r>
              <a:rPr lang="zh-CN" sz="900">
                <a:solidFill>
                  <a:srgbClr val="374151"/>
                </a:solidFill>
                <a:latin typeface="Source Han Sans SC"/>
                <a:ea typeface="Source Han Sans SC"/>
              </a:rPr>
              <a:t>表，与业务事务同处一库：短期记忆靠</a:t>
            </a:r>
            <a:r>
              <a:rPr lang="en-US" sz="900">
                <a:solidFill>
                  <a:srgbClr val="374151"/>
                </a:solidFill>
                <a:latin typeface="Source Han Sans SC"/>
                <a:ea typeface="Source Han Sans SC"/>
              </a:rPr>
              <a:t xml:space="preserve"> thread ID </a:t>
            </a:r>
            <a:r>
              <a:rPr lang="zh-CN" sz="900">
                <a:solidFill>
                  <a:srgbClr val="374151"/>
                </a:solidFill>
                <a:latin typeface="Source Han Sans SC"/>
                <a:ea typeface="Source Han Sans SC"/>
              </a:rPr>
              <a:t>与</a:t>
            </a:r>
            <a:r>
              <a:rPr lang="en-US" sz="900">
                <a:solidFill>
                  <a:srgbClr val="374151"/>
                </a:solidFill>
                <a:latin typeface="Source Han Sans SC"/>
                <a:ea typeface="Source Han Sans SC"/>
              </a:rPr>
              <a:t xml:space="preserve"> checkpoint </a:t>
            </a:r>
            <a:r>
              <a:rPr lang="zh-CN" sz="900">
                <a:solidFill>
                  <a:srgbClr val="374151"/>
                </a:solidFill>
                <a:latin typeface="Source Han Sans SC"/>
                <a:ea typeface="Source Han Sans SC"/>
              </a:rPr>
              <a:t>维持轮次上下文，长期记忆跨会话累积成用户画像。原生支持</a:t>
            </a:r>
            <a:r>
              <a:rPr lang="en-US" sz="900">
                <a:solidFill>
                  <a:srgbClr val="374151"/>
                </a:solidFill>
                <a:latin typeface="Source Han Sans SC"/>
                <a:ea typeface="Source Han Sans SC"/>
              </a:rPr>
              <a:t xml:space="preserve"> LangGraph checkpoint </a:t>
            </a:r>
            <a:r>
              <a:rPr lang="zh-CN" sz="900">
                <a:solidFill>
                  <a:srgbClr val="374151"/>
                </a:solidFill>
                <a:latin typeface="Source Han Sans SC"/>
                <a:ea typeface="Source Han Sans SC"/>
              </a:rPr>
              <a:t>与</a:t>
            </a:r>
            <a:r>
              <a:rPr lang="en-US" sz="900">
                <a:solidFill>
                  <a:srgbClr val="374151"/>
                </a:solidFill>
                <a:latin typeface="Source Han Sans SC"/>
                <a:ea typeface="Source Han Sans SC"/>
              </a:rPr>
              <a:t xml:space="preserve"> OpenAI Agents SDK</a:t>
            </a:r>
            <a:r>
              <a:rPr lang="zh-CN" sz="900">
                <a:solidFill>
                  <a:srgbClr val="374151"/>
                </a:solidFill>
                <a:latin typeface="Source Han Sans SC"/>
                <a:ea typeface="Source Han Sans SC"/>
              </a:rPr>
              <a:t>，无需外挂记忆服务——语义层的答案因此能带着「这个用户上次问过什么」一起返回。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5810250" y="2752725"/>
            <a:ext cx="5962650" cy="1171575"/>
          </a:xfrm>
          <a:prstGeom prst="roundRect">
            <a:avLst>
              <a:gd name="adj" fmla="val 56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" name=""/>
          <p:cNvSpPr/>
          <p:nvPr/>
        </p:nvSpPr>
        <p:spPr>
          <a:xfrm rot="0" flipH="0" flipV="0">
            <a:off x="5810250" y="2752725"/>
            <a:ext cx="5962650" cy="1171575"/>
          </a:xfrm>
          <a:custGeom>
            <a:pathLst>
              <a:path w="626" h="123">
                <a:moveTo>
                  <a:pt x="7" y="0"/>
                </a:moveTo>
                <a:cubicBezTo>
                  <a:pt x="5" y="0"/>
                  <a:pt x="4" y="1"/>
                  <a:pt x="4" y="3"/>
                </a:cubicBezTo>
                <a:lnTo>
                  <a:pt x="4" y="120"/>
                </a:lnTo>
                <a:cubicBezTo>
                  <a:pt x="4" y="122"/>
                  <a:pt x="5" y="123"/>
                  <a:pt x="7" y="123"/>
                </a:cubicBezTo>
                <a:cubicBezTo>
                  <a:pt x="3" y="123"/>
                  <a:pt x="0" y="120"/>
                  <a:pt x="0" y="116"/>
                </a:cubicBezTo>
                <a:lnTo>
                  <a:pt x="0" y="7"/>
                </a:lnTo>
                <a:cubicBezTo>
                  <a:pt x="0" y="3"/>
                  <a:pt x="3" y="0"/>
                  <a:pt x="7" y="0"/>
                </a:cubicBezTo>
                <a:close/>
              </a:path>
            </a:pathLst>
          </a:custGeom>
          <a:solidFill>
            <a:srgbClr val="E7E9ED"/>
          </a:solidFill>
          <a:ln/>
        </p:spPr>
        <p:txBody>
          <a:bodyPr/>
          <a:p/>
        </p:txBody>
      </p:sp>
      <p:pic>
        <p:nvPicPr>
          <p:cNvPr id="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5943600" y="2876550"/>
            <a:ext cx="142875" cy="142875"/>
          </a:xfrm>
          <a:prstGeom prst="rect">
            <a:avLst/>
          </a:prstGeom>
          <a:ln/>
        </p:spPr>
      </p:pic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162675" y="2838450"/>
            <a:ext cx="3352800" cy="2190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125" b="1">
                <a:solidFill>
                  <a:srgbClr val="1A1A1A"/>
                </a:solidFill>
                <a:latin typeface="Source Han Sans SC"/>
                <a:ea typeface="Source Han Sans SC"/>
              </a:rPr>
              <a:t>时间旅行与分支：让</a:t>
            </a:r>
            <a:r>
              <a:rPr lang="en-US" sz="1125" b="1">
                <a:solidFill>
                  <a:srgbClr val="1A1A1A"/>
                </a:solidFill>
                <a:latin typeface="Source Han Sans SC"/>
                <a:ea typeface="Source Han Sans SC"/>
              </a:rPr>
              <a:t xml:space="preserve"> Genie </a:t>
            </a:r>
            <a:r>
              <a:rPr lang="zh-CN" sz="1125" b="1">
                <a:solidFill>
                  <a:srgbClr val="1A1A1A"/>
                </a:solidFill>
                <a:latin typeface="Source Han Sans SC"/>
                <a:ea typeface="Source Han Sans SC"/>
              </a:rPr>
              <a:t>的「假设推演」可以回滚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943600" y="3105150"/>
            <a:ext cx="56578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00">
                <a:solidFill>
                  <a:srgbClr val="374151"/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900">
                <a:solidFill>
                  <a:srgbClr val="374151"/>
                </a:solidFill>
                <a:latin typeface="Source Han Sans SC"/>
                <a:ea typeface="Source Han Sans SC"/>
              </a:rPr>
              <a:t>生成一段分析、发现口径不对需要重来时，不必重跑整条链路：按</a:t>
            </a:r>
            <a:r>
              <a:rPr lang="en-US" sz="900">
                <a:solidFill>
                  <a:srgbClr val="374151"/>
                </a:solidFill>
                <a:latin typeface="Source Han Sans SC"/>
                <a:ea typeface="Source Han Sans SC"/>
              </a:rPr>
              <a:t xml:space="preserve"> LSN </a:t>
            </a:r>
            <a:r>
              <a:rPr lang="zh-CN" sz="900">
                <a:solidFill>
                  <a:srgbClr val="374151"/>
                </a:solidFill>
                <a:latin typeface="Source Han Sans SC"/>
                <a:ea typeface="Source Han Sans SC"/>
              </a:rPr>
              <a:t>指向历史状态即可恢复，也可从任意</a:t>
            </a:r>
            <a:r>
              <a:rPr lang="en-US" sz="900">
                <a:solidFill>
                  <a:srgbClr val="374151"/>
                </a:solidFill>
                <a:latin typeface="Source Han Sans SC"/>
                <a:ea typeface="Source Han Sans SC"/>
              </a:rPr>
              <a:t xml:space="preserve"> checkpoint </a:t>
            </a:r>
            <a:r>
              <a:rPr lang="zh-CN" sz="900">
                <a:solidFill>
                  <a:srgbClr val="374151"/>
                </a:solidFill>
                <a:latin typeface="Source Han Sans SC"/>
                <a:ea typeface="Source Han Sans SC"/>
              </a:rPr>
              <a:t>分叉一条新对话去试另一种假设。</a:t>
            </a:r>
            <a:r>
              <a:rPr lang="en-US" sz="900">
                <a:solidFill>
                  <a:srgbClr val="374151"/>
                </a:solidFill>
                <a:latin typeface="Source Han Sans SC"/>
                <a:ea typeface="Source Han Sans SC"/>
              </a:rPr>
              <a:t xml:space="preserve">2 TB </a:t>
            </a:r>
            <a:r>
              <a:rPr lang="zh-CN" sz="900">
                <a:solidFill>
                  <a:srgbClr val="374151"/>
                </a:solidFill>
                <a:latin typeface="Source Han Sans SC"/>
                <a:ea typeface="Source Han Sans SC"/>
              </a:rPr>
              <a:t>库秒级克隆、零初始开销，父库零负载——「多试几次」的成本被压到近乎为零，这是</a:t>
            </a:r>
            <a:r>
              <a:rPr lang="en-US" sz="900">
                <a:solidFill>
                  <a:srgbClr val="374151"/>
                </a:solidFill>
                <a:latin typeface="Source Han Sans SC"/>
                <a:ea typeface="Source Han Sans SC"/>
              </a:rPr>
              <a:t xml:space="preserve"> Genie </a:t>
            </a:r>
            <a:r>
              <a:rPr lang="zh-CN" sz="900">
                <a:solidFill>
                  <a:srgbClr val="374151"/>
                </a:solidFill>
                <a:latin typeface="Source Han Sans SC"/>
                <a:ea typeface="Source Han Sans SC"/>
              </a:rPr>
              <a:t>从回答问题走向推演问题的前提。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5810250" y="3981450"/>
            <a:ext cx="5962650" cy="1171575"/>
          </a:xfrm>
          <a:prstGeom prst="roundRect">
            <a:avLst>
              <a:gd name="adj" fmla="val 56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4" name=""/>
          <p:cNvSpPr/>
          <p:nvPr/>
        </p:nvSpPr>
        <p:spPr>
          <a:xfrm rot="0" flipH="0" flipV="0">
            <a:off x="5810250" y="3981450"/>
            <a:ext cx="5962650" cy="1171575"/>
          </a:xfrm>
          <a:custGeom>
            <a:pathLst>
              <a:path w="626" h="123">
                <a:moveTo>
                  <a:pt x="7" y="0"/>
                </a:moveTo>
                <a:cubicBezTo>
                  <a:pt x="5" y="0"/>
                  <a:pt x="4" y="1"/>
                  <a:pt x="4" y="3"/>
                </a:cubicBezTo>
                <a:lnTo>
                  <a:pt x="4" y="120"/>
                </a:lnTo>
                <a:cubicBezTo>
                  <a:pt x="4" y="122"/>
                  <a:pt x="5" y="123"/>
                  <a:pt x="7" y="123"/>
                </a:cubicBezTo>
                <a:cubicBezTo>
                  <a:pt x="3" y="123"/>
                  <a:pt x="0" y="120"/>
                  <a:pt x="0" y="116"/>
                </a:cubicBezTo>
                <a:lnTo>
                  <a:pt x="0" y="7"/>
                </a:lnTo>
                <a:cubicBezTo>
                  <a:pt x="0" y="3"/>
                  <a:pt x="3" y="0"/>
                  <a:pt x="7" y="0"/>
                </a:cubicBezTo>
                <a:close/>
              </a:path>
            </a:pathLst>
          </a:custGeom>
          <a:solidFill>
            <a:srgbClr val="E7E9ED"/>
          </a:solidFill>
          <a:ln/>
        </p:spPr>
        <p:txBody>
          <a:bodyPr/>
          <a:p/>
        </p:txBody>
      </p:sp>
      <p:pic>
        <p:nvPicPr>
          <p:cNvPr id="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 rot="0" flipH="0" flipV="0">
            <a:off x="5943600" y="4105275"/>
            <a:ext cx="142875" cy="142875"/>
          </a:xfrm>
          <a:prstGeom prst="rect">
            <a:avLst/>
          </a:prstGeom>
          <a:ln/>
        </p:spPr>
      </p:pic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162675" y="4067175"/>
            <a:ext cx="2543175" cy="2190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125" b="1">
                <a:solidFill>
                  <a:srgbClr val="1A1A1A"/>
                </a:solidFill>
                <a:latin typeface="Source Han Sans SC"/>
                <a:ea typeface="Source Han Sans SC"/>
              </a:rPr>
              <a:t>同库检索：把</a:t>
            </a:r>
            <a:r>
              <a:rPr lang="en-US" sz="1125" b="1">
                <a:solidFill>
                  <a:srgbClr val="1A1A1A"/>
                </a:solidFill>
                <a:latin typeface="Source Han Sans SC"/>
                <a:ea typeface="Source Han Sans SC"/>
              </a:rPr>
              <a:t xml:space="preserve"> RAG </a:t>
            </a:r>
            <a:r>
              <a:rPr lang="zh-CN" sz="1125" b="1">
                <a:solidFill>
                  <a:srgbClr val="1A1A1A"/>
                </a:solidFill>
                <a:latin typeface="Source Han Sans SC"/>
                <a:ea typeface="Source Han Sans SC"/>
              </a:rPr>
              <a:t>与事务数据放在一处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5943600" y="4333875"/>
            <a:ext cx="56578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00">
                <a:solidFill>
                  <a:srgbClr val="374151"/>
                </a:solidFill>
                <a:latin typeface="Source Han Sans SC"/>
                <a:ea typeface="Source Han Sans SC"/>
              </a:rPr>
              <a:t xml:space="preserve">pgvector </a:t>
            </a:r>
            <a:r>
              <a:rPr lang="zh-CN" sz="900">
                <a:solidFill>
                  <a:srgbClr val="374151"/>
                </a:solidFill>
                <a:latin typeface="Source Han Sans SC"/>
                <a:ea typeface="Source Han Sans SC"/>
              </a:rPr>
              <a:t>等扩展在同一库里做向量、文本与混合检索，检索记忆与写入状态不再跨库同步，少一份一致性风险。亚</a:t>
            </a:r>
            <a:r>
              <a:rPr lang="en-US" sz="900">
                <a:solidFill>
                  <a:srgbClr val="374151"/>
                </a:solidFill>
                <a:latin typeface="Source Han Sans SC"/>
                <a:ea typeface="Source Han Sans SC"/>
              </a:rPr>
              <a:t xml:space="preserve"> 10 ms </a:t>
            </a:r>
            <a:r>
              <a:rPr lang="zh-CN" sz="900">
                <a:solidFill>
                  <a:srgbClr val="374151"/>
                </a:solidFill>
                <a:latin typeface="Source Han Sans SC"/>
                <a:ea typeface="Source Han Sans SC"/>
              </a:rPr>
              <a:t>读写、万级</a:t>
            </a:r>
            <a:r>
              <a:rPr lang="en-US" sz="900">
                <a:solidFill>
                  <a:srgbClr val="374151"/>
                </a:solidFill>
                <a:latin typeface="Source Han Sans SC"/>
                <a:ea typeface="Source Han Sans SC"/>
              </a:rPr>
              <a:t xml:space="preserve"> QPS </a:t>
            </a:r>
            <a:r>
              <a:rPr lang="zh-CN" sz="900">
                <a:solidFill>
                  <a:srgbClr val="374151"/>
                </a:solidFill>
                <a:latin typeface="Source Han Sans SC"/>
                <a:ea typeface="Source Han Sans SC"/>
              </a:rPr>
              <a:t>的表现，让</a:t>
            </a:r>
            <a:r>
              <a:rPr lang="en-US" sz="900">
                <a:solidFill>
                  <a:srgbClr val="374151"/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900">
                <a:solidFill>
                  <a:srgbClr val="374151"/>
                </a:solidFill>
                <a:latin typeface="Source Han Sans SC"/>
                <a:ea typeface="Source Han Sans SC"/>
              </a:rPr>
              <a:t>能在一次回答内串联几十次调用；</a:t>
            </a:r>
            <a:r>
              <a:rPr lang="en-US" sz="900">
                <a:solidFill>
                  <a:srgbClr val="374151"/>
                </a:solidFill>
                <a:latin typeface="Source Han Sans SC"/>
                <a:ea typeface="Source Han Sans SC"/>
              </a:rPr>
              <a:t xml:space="preserve">Scale-to-Zero </a:t>
            </a:r>
            <a:r>
              <a:rPr lang="zh-CN" sz="900">
                <a:solidFill>
                  <a:srgbClr val="374151"/>
                </a:solidFill>
                <a:latin typeface="Source Han Sans SC"/>
                <a:ea typeface="Source Han Sans SC"/>
              </a:rPr>
              <a:t>让「每个</a:t>
            </a:r>
            <a:r>
              <a:rPr lang="en-US" sz="900">
                <a:solidFill>
                  <a:srgbClr val="374151"/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900">
                <a:solidFill>
                  <a:srgbClr val="374151"/>
                </a:solidFill>
                <a:latin typeface="Source Han Sans SC"/>
                <a:ea typeface="Source Han Sans SC"/>
              </a:rPr>
              <a:t>一个库」在成本上成立——闲置即挂起，不为沉睡的</a:t>
            </a:r>
            <a:r>
              <a:rPr lang="en-US" sz="900">
                <a:solidFill>
                  <a:srgbClr val="374151"/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900">
                <a:solidFill>
                  <a:srgbClr val="374151"/>
                </a:solidFill>
                <a:latin typeface="Source Han Sans SC"/>
                <a:ea typeface="Source Han Sans SC"/>
              </a:rPr>
              <a:t>付费。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5810250" y="5210175"/>
            <a:ext cx="5962650" cy="1171575"/>
          </a:xfrm>
          <a:prstGeom prst="roundRect">
            <a:avLst>
              <a:gd name="adj" fmla="val 56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5810250" y="5210175"/>
            <a:ext cx="5962650" cy="1171575"/>
          </a:xfrm>
          <a:custGeom>
            <a:pathLst>
              <a:path w="626" h="123">
                <a:moveTo>
                  <a:pt x="7" y="0"/>
                </a:moveTo>
                <a:cubicBezTo>
                  <a:pt x="5" y="0"/>
                  <a:pt x="4" y="1"/>
                  <a:pt x="4" y="3"/>
                </a:cubicBezTo>
                <a:lnTo>
                  <a:pt x="4" y="120"/>
                </a:lnTo>
                <a:cubicBezTo>
                  <a:pt x="4" y="122"/>
                  <a:pt x="5" y="123"/>
                  <a:pt x="7" y="123"/>
                </a:cubicBezTo>
                <a:cubicBezTo>
                  <a:pt x="3" y="123"/>
                  <a:pt x="0" y="120"/>
                  <a:pt x="0" y="116"/>
                </a:cubicBezTo>
                <a:lnTo>
                  <a:pt x="0" y="7"/>
                </a:lnTo>
                <a:cubicBezTo>
                  <a:pt x="0" y="3"/>
                  <a:pt x="3" y="0"/>
                  <a:pt x="7" y="0"/>
                </a:cubicBezTo>
                <a:close/>
              </a:path>
            </a:pathLst>
          </a:custGeom>
          <a:solidFill>
            <a:srgbClr val="E7E9ED"/>
          </a:solidFill>
          <a:ln/>
        </p:spPr>
        <p:txBody>
          <a:bodyPr/>
          <a:p/>
        </p:txBody>
      </p:sp>
      <p:pic>
        <p:nvPicPr>
          <p:cNvPr id="9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5943600" y="5334000"/>
            <a:ext cx="142875" cy="142875"/>
          </a:xfrm>
          <a:prstGeom prst="rect">
            <a:avLst/>
          </a:prstGeom>
          <a:ln/>
        </p:spPr>
      </p:pic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162675" y="5295900"/>
            <a:ext cx="2143125" cy="2190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125" b="1">
                <a:solidFill>
                  <a:srgbClr val="1A1A1A"/>
                </a:solidFill>
                <a:latin typeface="Source Han Sans SC"/>
                <a:ea typeface="Source Han Sans SC"/>
              </a:rPr>
              <a:t>统一治理与回流：语义可信的前提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5943600" y="5562600"/>
            <a:ext cx="56578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74151"/>
                </a:solidFill>
                <a:latin typeface="Source Han Sans SC"/>
                <a:ea typeface="Source Han Sans SC"/>
              </a:rPr>
              <a:t>对话历史继承</a:t>
            </a:r>
            <a:r>
              <a:rPr lang="en-US" sz="900">
                <a:solidFill>
                  <a:srgbClr val="374151"/>
                </a:solidFill>
                <a:latin typeface="Source Han Sans SC"/>
                <a:ea typeface="Source Han Sans SC"/>
              </a:rPr>
              <a:t xml:space="preserve"> UC </a:t>
            </a:r>
            <a:r>
              <a:rPr lang="zh-CN" sz="900">
                <a:solidFill>
                  <a:srgbClr val="374151"/>
                </a:solidFill>
                <a:latin typeface="Source Han Sans SC"/>
                <a:ea typeface="Source Han Sans SC"/>
              </a:rPr>
              <a:t>的权限、血缘与审计，行级安全做到用户级隔离，</a:t>
            </a:r>
            <a:r>
              <a:rPr lang="en-US" sz="900">
                <a:solidFill>
                  <a:srgbClr val="374151"/>
                </a:solidFill>
                <a:latin typeface="Source Han Sans SC"/>
                <a:ea typeface="Source Han Sans SC"/>
              </a:rPr>
              <a:t xml:space="preserve">Ontology </a:t>
            </a:r>
            <a:r>
              <a:rPr lang="zh-CN" sz="900">
                <a:solidFill>
                  <a:srgbClr val="374151"/>
                </a:solidFill>
                <a:latin typeface="Source Han Sans SC"/>
                <a:ea typeface="Source Han Sans SC"/>
              </a:rPr>
              <a:t>的「权限感知检索」才有可靠底座；</a:t>
            </a:r>
            <a:r>
              <a:rPr lang="en-US" sz="900">
                <a:solidFill>
                  <a:srgbClr val="374151"/>
                </a:solidFill>
                <a:latin typeface="Source Han Sans SC"/>
                <a:ea typeface="Source Han Sans SC"/>
              </a:rPr>
              <a:t xml:space="preserve">Change Data Feed </a:t>
            </a:r>
            <a:r>
              <a:rPr lang="zh-CN" sz="900">
                <a:solidFill>
                  <a:srgbClr val="374151"/>
                </a:solidFill>
                <a:latin typeface="Source Han Sans SC"/>
                <a:ea typeface="Source Han Sans SC"/>
              </a:rPr>
              <a:t>把会话记录回写</a:t>
            </a:r>
            <a:r>
              <a:rPr lang="en-US" sz="900">
                <a:solidFill>
                  <a:srgbClr val="374151"/>
                </a:solidFill>
                <a:latin typeface="Source Han Sans SC"/>
                <a:ea typeface="Source Han Sans SC"/>
              </a:rPr>
              <a:t xml:space="preserve"> Delta </a:t>
            </a:r>
            <a:r>
              <a:rPr lang="zh-CN" sz="900">
                <a:solidFill>
                  <a:srgbClr val="374151"/>
                </a:solidFill>
                <a:latin typeface="Source Han Sans SC"/>
                <a:ea typeface="Source Han Sans SC"/>
              </a:rPr>
              <a:t>用于离线评测与审计，</a:t>
            </a:r>
            <a:r>
              <a:rPr lang="en-US" sz="900">
                <a:solidFill>
                  <a:srgbClr val="374151"/>
                </a:solidFill>
                <a:latin typeface="Source Han Sans SC"/>
                <a:ea typeface="Source Han Sans SC"/>
              </a:rPr>
              <a:t xml:space="preserve">Synced Tables </a:t>
            </a:r>
            <a:r>
              <a:rPr lang="zh-CN" sz="900">
                <a:solidFill>
                  <a:srgbClr val="374151"/>
                </a:solidFill>
                <a:latin typeface="Source Han Sans SC"/>
                <a:ea typeface="Source Han Sans SC"/>
              </a:rPr>
              <a:t>把实体目录、策略表等参考数据送进</a:t>
            </a:r>
            <a:r>
              <a:rPr lang="en-US" sz="900">
                <a:solidFill>
                  <a:srgbClr val="374151"/>
                </a:solidFill>
                <a:latin typeface="Source Han Sans SC"/>
                <a:ea typeface="Source Han Sans SC"/>
              </a:rPr>
              <a:t xml:space="preserve"> Agent</a:t>
            </a:r>
            <a:r>
              <a:rPr lang="zh-CN" sz="900">
                <a:solidFill>
                  <a:srgbClr val="374151"/>
                </a:solidFill>
                <a:latin typeface="Source Han Sans SC"/>
                <a:ea typeface="Source Han Sans SC"/>
              </a:rPr>
              <a:t>。</a:t>
            </a:r>
            <a:r>
              <a:rPr lang="en-US" sz="900">
                <a:solidFill>
                  <a:srgbClr val="374151"/>
                </a:solidFill>
                <a:latin typeface="Source Han Sans SC"/>
                <a:ea typeface="Source Han Sans SC"/>
              </a:rPr>
              <a:t xml:space="preserve">Ontology </a:t>
            </a:r>
            <a:r>
              <a:rPr lang="zh-CN" sz="900">
                <a:solidFill>
                  <a:srgbClr val="374151"/>
                </a:solidFill>
                <a:latin typeface="Source Han Sans SC"/>
                <a:ea typeface="Source Han Sans SC"/>
              </a:rPr>
              <a:t>因此不是空转的图谱，而是有真实读写与反馈的闭环。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457200" y="6505575"/>
            <a:ext cx="9877425" cy="161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88">
                <a:solidFill>
                  <a:srgbClr val="9CA3AF"/>
                </a:solidFill>
                <a:latin typeface="Source Han Sans SC"/>
                <a:ea typeface="Source Han Sans SC"/>
              </a:rPr>
              <a:t>血统澄清：</a:t>
            </a:r>
            <a:r>
              <a:rPr lang="en-US" sz="788">
                <a:solidFill>
                  <a:srgbClr val="9CA3AF"/>
                </a:solidFill>
                <a:latin typeface="Source Han Sans SC"/>
                <a:ea typeface="Source Han Sans SC"/>
              </a:rPr>
              <a:t xml:space="preserve">Genie </a:t>
            </a:r>
            <a:r>
              <a:rPr lang="zh-CN" sz="788">
                <a:solidFill>
                  <a:srgbClr val="9CA3AF"/>
                </a:solidFill>
                <a:latin typeface="Source Han Sans SC"/>
                <a:ea typeface="Source Han Sans SC"/>
              </a:rPr>
              <a:t>起源于</a:t>
            </a:r>
            <a:r>
              <a:rPr lang="en-US" sz="788">
                <a:solidFill>
                  <a:srgbClr val="9CA3AF"/>
                </a:solidFill>
                <a:latin typeface="Source Han Sans SC"/>
                <a:ea typeface="Source Han Sans SC"/>
              </a:rPr>
              <a:t xml:space="preserve"> Databricks AI/BI </a:t>
            </a:r>
            <a:r>
              <a:rPr lang="zh-CN" sz="788">
                <a:solidFill>
                  <a:srgbClr val="9CA3AF"/>
                </a:solidFill>
                <a:latin typeface="Source Han Sans SC"/>
                <a:ea typeface="Source Han Sans SC"/>
              </a:rPr>
              <a:t>自研对话助手，</a:t>
            </a:r>
            <a:r>
              <a:rPr lang="en-US" sz="788">
                <a:solidFill>
                  <a:srgbClr val="9CA3AF"/>
                </a:solidFill>
                <a:latin typeface="Source Han Sans SC"/>
                <a:ea typeface="Source Han Sans SC"/>
              </a:rPr>
              <a:t xml:space="preserve">2026.06 </a:t>
            </a:r>
            <a:r>
              <a:rPr lang="zh-CN" sz="788">
                <a:solidFill>
                  <a:srgbClr val="9CA3AF"/>
                </a:solidFill>
                <a:latin typeface="Source Han Sans SC"/>
                <a:ea typeface="Source Han Sans SC"/>
              </a:rPr>
              <a:t>演进为</a:t>
            </a:r>
            <a:r>
              <a:rPr lang="en-US" sz="788">
                <a:solidFill>
                  <a:srgbClr val="9CA3AF"/>
                </a:solidFill>
                <a:latin typeface="Source Han Sans SC"/>
                <a:ea typeface="Source Han Sans SC"/>
              </a:rPr>
              <a:t xml:space="preserve"> Genie One / Agents / Ontology</a:t>
            </a:r>
            <a:r>
              <a:rPr lang="zh-CN" sz="788">
                <a:solidFill>
                  <a:srgbClr val="9CA3AF"/>
                </a:solidFill>
                <a:latin typeface="Source Han Sans SC"/>
                <a:ea typeface="Source Han Sans SC"/>
              </a:rPr>
              <a:t>（自研）；</a:t>
            </a:r>
            <a:r>
              <a:rPr lang="en-US" sz="788">
                <a:solidFill>
                  <a:srgbClr val="9CA3AF"/>
                </a:solidFill>
                <a:latin typeface="Source Han Sans SC"/>
                <a:ea typeface="Source Han Sans SC"/>
              </a:rPr>
              <a:t xml:space="preserve">Palantir </a:t>
            </a:r>
            <a:r>
              <a:rPr lang="zh-CN" sz="788">
                <a:solidFill>
                  <a:srgbClr val="9CA3AF"/>
                </a:solidFill>
                <a:latin typeface="Source Han Sans SC"/>
                <a:ea typeface="Source Han Sans SC"/>
              </a:rPr>
              <a:t>为</a:t>
            </a:r>
            <a:r>
              <a:rPr lang="en-US" sz="788">
                <a:solidFill>
                  <a:srgbClr val="9CA3AF"/>
                </a:solidFill>
                <a:latin typeface="Source Han Sans SC"/>
                <a:ea typeface="Source Han Sans SC"/>
              </a:rPr>
              <a:t xml:space="preserve"> 2025.03 </a:t>
            </a:r>
            <a:r>
              <a:rPr lang="zh-CN" sz="788">
                <a:solidFill>
                  <a:srgbClr val="9CA3AF"/>
                </a:solidFill>
                <a:latin typeface="Source Han Sans SC"/>
                <a:ea typeface="Source Han Sans SC"/>
              </a:rPr>
              <a:t>起的战略产品伙伴，经</a:t>
            </a:r>
            <a:r>
              <a:rPr lang="en-US" sz="788">
                <a:solidFill>
                  <a:srgbClr val="9CA3AF"/>
                </a:solidFill>
                <a:latin typeface="Source Han Sans SC"/>
                <a:ea typeface="Source Han Sans SC"/>
              </a:rPr>
              <a:t xml:space="preserve"> Unity Catalog + Delta Sharing </a:t>
            </a:r>
            <a:r>
              <a:rPr lang="zh-CN" sz="788">
                <a:solidFill>
                  <a:srgbClr val="9CA3AF"/>
                </a:solidFill>
                <a:latin typeface="Source Han Sans SC"/>
                <a:ea typeface="Source Han Sans SC"/>
              </a:rPr>
              <a:t>互通，非</a:t>
            </a:r>
            <a:r>
              <a:rPr lang="en-US" sz="788">
                <a:solidFill>
                  <a:srgbClr val="9CA3AF"/>
                </a:solidFill>
                <a:latin typeface="Source Han Sans SC"/>
                <a:ea typeface="Source Han Sans SC"/>
              </a:rPr>
              <a:t xml:space="preserve"> Genie </a:t>
            </a:r>
            <a:r>
              <a:rPr lang="zh-CN" sz="788">
                <a:solidFill>
                  <a:srgbClr val="9CA3AF"/>
                </a:solidFill>
                <a:latin typeface="Source Han Sans SC"/>
                <a:ea typeface="Source Han Sans SC"/>
              </a:rPr>
              <a:t>本体来源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1372850" y="6486525"/>
            <a:ext cx="361950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900">
                <a:solidFill>
                  <a:srgbClr val="6B7280"/>
                </a:solidFill>
                <a:latin typeface="Helvetica Neue"/>
                <a:ea typeface="Helvetica Neue"/>
              </a:rPr>
              <a:t>01 / 01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2026-10-07T14:40:25Z</dcterms:created>
  <dcterms:modified xsi:type="dcterms:W3CDTF">2026-10-07T14:40:25Z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{"AIGC":{"Label":"1","ContentProducer":"00119111010856365494821B355","ProduceID":"01a114f5bdbf7163a0a136d619628531","ReservedCode1":"","ContentPropagator":"00119111010856365494821B355","PropagateID":"01a114f5bdbf7163a0a136d619628531","ReservedCode2":""}}</vt:lpwstr>
  </property>
</Properties>
</file>