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5" Type="http://schemas.openxmlformats.org/officeDocument/2006/relationships/viewProps" Target="viewProps.xml" /><Relationship Id="rId4" Type="http://schemas.openxmlformats.org/officeDocument/2006/relationships/tableStyles" Target="tableStyles.xml" /><Relationship Id="rId3" Type="http://schemas.openxmlformats.org/officeDocument/2006/relationships/presProps" Target="presProps.xml" /><Relationship Id="rId2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&#10;    width: '1280px',&#10;    height: '720px',&#10;    background: '#FFFFFF',&#10;    padding: '18px 40px 18px 40px',&#10;    fontFamily: &quot;'PingFang SC', 'Helvetica Neue', sans-serif&quot;,&#10;    display: 'flex',&#10;    flexDirection: 'column',&#10;}}&gt;&#10;    {/* A · 标题块 18-130 */}&#10;    &lt;Box style={{ height: '112px', flexDirection: 'column', justifyContent: 'center' }}&gt;&#10;        &lt;Box style={{ flexDirection: 'row', alignItems: 'center', justifyContent: 'space-between' }}&gt;&#10;            &lt;Box style={{ flexDirection: 'row', alignItems: 'center', gap: '14px' }}&gt;&#10;                &lt;Box style={{ width: '6px', height: '46px', background: '#C8102E' }} /&gt;&#10;                &lt;Box style={{ flexDirection: 'column' }}&gt;&#10;                    &lt;Text style={{ fontSize: '32px', fontWeight: 'bold', color: '#1A1A1A', lineHeight: 1.2 }}&gt;&#10;                        千问办公 · &lt;span style={{ color: '#C8102E' }}&gt;企业上下文&lt;/span&gt;与存储底座&#10;                    &lt;/Text&gt;&#10;                    &lt;Text style={{ fontSize: '14px', color: '#5A5A5A', lineHeight: 1.4, marginTop: '6px' }}&gt;&#10;                        Context is All You Need —— 记忆 / 知识库 / 技能库如何组织，文件与记忆数据究竟落在哪些产品上&#10;                    &lt;/Text&gt;&#10;                &lt;/Box&gt;&#10;            &lt;/Box&gt;&#10;            &lt;Box style={{&#10;                flexDirection: 'column',&#10;                justifyContent: 'center',&#10;                alignItems: 'flex-end',&#10;                padding: '8px 14px',&#10;                border: '1px solid #C8102E',&#10;                borderRadius: '4px',&#10;                background: '#FBE9EB',&#10;            }}&gt;&#10;                &lt;Text style={{ fontSize: '13px', fontWeight: 'bold', color: '#C8102E' }}&gt;QwenWork&lt;/Text&gt;&#10;                &lt;Text style={{ fontSize: '10px', color: '#8A6A6E', marginTop: '2px' }}&gt;2026 云栖大会 · 企业级 Agent&lt;/Text&gt;&#10;            &lt;/Box&gt;&#10;        &lt;/Box&gt;&#10;    &lt;/Box&gt;&#10;&#10;    {/* B · 内容区 130-664 */}&#10;    &lt;Box style={{ height: '534px', flexDirection: 'row', gap: '24px' }}&gt;&#10;&#10;        {/* 左栏 · 架构图 */}&#10;        &lt;Box style={{ width: '668px', flexDirection: 'column' }}&gt;&#10;            &lt;Box style={{ flexDirection: 'row', alignItems: 'center', gap: '8px', marginBottom: '6px' }}&gt;&#10;                &lt;Text style={{ fontSize: '17px', fontWeight: 'bold', color: '#1A1A1A' }}&gt;企业上下文数据架构&lt;/Text&gt;&#10;                &lt;Box style={{ flex: 1, height: '1px', background: '#E3E4E8' }} /&gt;&#10;                &lt;Text style={{ fontSize: '11px', color: '#9A9A9A' }}&gt;自下而上：采集 → 组织 → 存储 → 执行&lt;/Text&gt;&#10;            &lt;/Box&gt;&#10;&#10;            &lt;Box style={{ height: '72px', padding: '5px 8px', background: '#F5F6F8', borderRadius: '4px', flexDirection: 'column' }}&gt;&#10;                &lt;Text style={{ fontSize: '13px', fontWeight: 'bold', color: '#1A1A1A' }}&gt;① 接入层 · 五类企业数据碎片&lt;/Text&gt;&#10;                &lt;Box style={{ flexDirection: 'row', gap: '6px', marginTop: '5px' }}&gt;&#10;                    {[&#10;                        { t: 'IM 群聊', d: '钉钉/飞书/企微' },&#10;                        { t: '文档会议', d: '云盘文档·纪要' },&#10;                        { t: '本地文件', d: '桌面端直读' },&#10;                        { t: '业务系统', d: 'CRM/ERP/审批' },&#10;                        { t: '线下采集', d: 'QwenNote A2' },&#10;                    ].map((item, idx) =&gt; (&#10;                        &lt;Box key={idx} style={{&#10;                            flex: 1, height: '38px', padding: '4px 8px',&#10;                            background: '#FFFFFF', border: '1px solid #E3E4E8', borderRadius: '3px',&#10;                            flexDirection: 'column', justifyContent: 'center',&#10;                        }}&gt;&#10;                            &lt;Text style={{ fontSize: '12px', fontWeight: 'bold', color: '#1A1A1A' }}&gt;{item.t}&lt;/Text&gt;&#10;                            &lt;Text style={{ fontSize: '10px', color: '#7A7A7A', marginTop: '2px' }}&gt;{item.d}&lt;/Text&gt;&#10;                        &lt;/Box&gt;&#10;                    ))}&#10;                &lt;/Box&gt;&#10;            &lt;/Box&gt;&#10;&#10;            &lt;Box style={{ height: '10px', alignItems: 'center', justifyContent: 'center' }}&gt;&#10;                &lt;Text style={{ fontSize: '9px', color: '#C8102E', opacity: 0.55 }}&gt;▼&lt;/Text&gt;&#10;            &lt;/Box&gt;&#10;&#10;            &lt;Box style={{&#10;                height: '134px', padding: '9px 10px',&#10;                background: 'linear-gradient(135deg, #C8102E 0%, #A60D24 100%)',&#10;                borderRadius: '4px', flexDirection: 'column',&#10;            }}&gt;&#10;                &lt;Box style={{ flexDirection: 'row', alignItems: 'center', justifyContent: 'space-between' }}&gt;&#10;                    &lt;Text style={{ fontSize: '14px', fontWeight: 'bold', color: '#FFFFFF' }}&gt;② 上下文层 · Enterprise Context&lt;/Text&gt;&#10;                    &lt;Text style={{ fontSize: '10px', color: '#FFD9DE' }}&gt;结构化压缩，而非向量堆叠&lt;/Text&gt;&#10;                &lt;/Box&gt;&#10;                &lt;Box style={{ flexDirection: 'row', gap: '8px', marginTop: '8px' }}&gt;&#10;                    {[&#10;                        { t: '长期记忆', d: '偏好·口径·决策' },&#10;                        { t: '知识库', d: '文档·群聊·会议' },&#10;                        { t: '本体图谱', d: '实体与规则关系' },&#10;                        { t: '技能库', d: '组织级可执行' },&#10;                    ].map((item, idx) =&gt; (&#10;                        &lt;Box key={idx} style={{&#10;                            flex: 1, height: '66px', padding: '6px 8px',&#10;                            background: 'rgba(255,255,255,0.14)', border: '1px solid rgba(255,255,255,0.34)',&#10;                            borderRadius: '3px', flexDirection: 'column', justifyContent: 'center',&#10;                        }}&gt;&#10;                            &lt;Text style={{ fontSize: '13px', fontWeight: 'bold', color: '#FFFFFF' }}&gt;{item.t}&lt;/Text&gt;&#10;                            &lt;Text style={{ fontSize: '10.5px', color: '#FFE3E6', lineHeight: 1.4, marginTop: '4px' }}&gt;{item.d}&lt;/Text&gt;&#10;                        &lt;/Box&gt;&#10;                    ))}&#10;                &lt;/Box&gt;&#10;                &lt;Text style={{ fontSize: '10px', color: '#FFD9DE', marginTop: '6px' }}&gt;&#10;                    连接 → 理解 → 复用：实体抽取 → 业务关系图谱 → 按需最小注入&#10;                &lt;/Text&gt;&#10;            &lt;/Box&gt;&#10;&#10;            &lt;Box style={{ height: '16px', alignItems: 'center', justifyContent: 'center' }}&gt;&#10;                &lt;Text style={{ fontSize: '9px', color: '#C8102E', opacity: 0.55 }}&gt;▼&lt;/Text&gt;&#10;            &lt;/Box&gt;&#10;&#10;            &lt;Box style={{ height: '158px', padding: '6px 8px', background: '#F5F6F8', borderRadius: '4px', flexDirection: 'column' }}&gt;&#10;                &lt;Text style={{ fontSize: '13px', fontWeight: 'bold', color: '#1A1A1A' }}&gt;③ 存储层 · 数据分别落在哪（阿里云原生产品分工）&lt;/Text&gt;&#10;                &lt;Box style={{ flexDirection: 'row', gap: '6px', marginTop: '6px' }}&gt;&#10;                    &lt;Box style={{ flexDirection: 'column', gap: '6px', flex: 1 }}&gt;&#10;                        &lt;Box style={{ height: '62px', padding: '6px 9px', background: '#FFFFFF', border: '1px solid #E3E4E8', borderRadius: '3px', flexDirection: 'column', justifyContent: 'center' }}&gt;&#10;                            &lt;Text style={{ fontSize: '12px', fontWeight: 'bold', color: '#C8102E' }}&gt;AgenticFS（NAS）· Agent 原生文件&lt;/Text&gt;&#10;                            &lt;Text style={{ fontSize: '10.5px', color: '#5A5A5A', lineHeight: 1.4, marginTop: '3px' }}&gt;&#10;                                单文件系统管 50 万 AgenticSpace，会话记录、记忆、Skill 独立落盘&#10;                            &lt;/Text&gt;&#10;                        &lt;/Box&gt;&#10;                        &lt;Box style={{ height: '62px', padding: '6px 9px', background: '#FFFFFF', border: '1px solid #E3E4E8', borderRadius: '3px', flexDirection: 'column', justifyContent: 'center' }}&gt;&#10;                            &lt;Text style={{ fontSize: '12px', fontWeight: 'bold', color: '#C8102E' }}&gt;PolarDB Agent LakeBase · 分析型湖仓&lt;/Text&gt;&#10;                            &lt;Text style={{ fontSize: '10.5px', color: '#5A5A5A', lineHeight: 1.4, marginTop: '3px' }}&gt;&#10;                                OSS 为唯一事实源，Memory/Knowledge/Ontology 三层统一，秒级分支沙箱&#10;                            &lt;/Text&gt;&#10;                        &lt;/Box&gt;&#10;                    &lt;/Box&gt;&#10;                    &lt;Box style={{ flexDirection: 'column', gap: '6px', flex: 1 }}&gt;&#10;                        &lt;Box style={{ height: '62px', padding: '6px 9px', background: '#FFFFFF', border: '1px solid #E3E4E8', borderRadius: '3px', flexDirection: 'column', justifyContent: 'center' }}&gt;&#10;                            &lt;Text style={{ fontSize: '12px', fontWeight: 'bold', color: '#C8102E' }}&gt;PolarDB Mem0 · 长期记忆托管&lt;/Text&gt;&#10;                            &lt;Text style={{ fontSize: '10.5px', color: '#5A5A5A', lineHeight: 1.4, marginTop: '3px' }}&gt;&#10;                                100% 兼容开源 Mem0，语义记忆 + 结构化记忆双通道，水平分片扩容&#10;                            &lt;/Text&gt;&#10;                        &lt;/Box&gt;&#10;                        &lt;Box style={{ height: '62px', padding: '6px 9px', background: '#FFFFFF', border: '1px solid #E3E4E8', borderRadius: '3px', flexDirection: 'column', justifyContent: 'center' }}&gt;&#10;                            &lt;Text style={{ fontSize: '12px', fontWeight: 'bold', color: '#C8102E' }}&gt;OSS + PolarSearch · 原始文件与检索&lt;/Text&gt;&#10;                            &lt;Text style={{ fontSize: '10.5px', color: '#5A5A5A', lineHeight: 1.4, marginTop: '3px' }}&gt;&#10;                                文档/会议/附件存 OSS，PolarSearch 走向量与多模检索、NL2SQL 取数&#10;                            &lt;/Text&gt;&#10;                        &lt;/Box&gt;&#10;                    &lt;/Box&gt;&#10;                &lt;/Box&gt;&#10;            &lt;/Box&gt;&#10;&#10;            &lt;Box style={{ height: '16px', alignItems: 'center', justifyContent: 'center' }}&gt;&#10;                &lt;Text style={{ fontSize: '9px', color: '#C8102E', opacity: 0.55 }}&gt;▼&lt;/Text&gt;&#10;            &lt;/Box&gt;&#10;&#10;            &lt;Box style={{ height: '96px', padding: '6px 8px', background: '#F5F6F8', borderRadius: '4px', flexDirection: 'column' }}&gt;&#10;                &lt;Text style={{ fontSize: '13px', fontWeight: 'bold', color: '#1A1A1A' }}&gt;④ 执行层 · 三端 Agent + 安全中心&lt;/Text&gt;&#10;                &lt;Box style={{ flexDirection: 'row', gap: '6px', marginTop: '6px' }}&gt;&#10;                    &lt;Box style={{&#10;                        width: '155px', height: '62px', padding: '0 9px', background: '#FFFFFF',&#10;                        border: '1px solid #E3E4E8', borderRadius: '3px',&#10;                        flexDirection: 'column', justifyContent: 'center',&#10;                    }}&gt;&#10;                        &lt;Text style={{ fontSize: '12px', fontWeight: 'bold', color: '#1A1A1A' }}&gt;桌面 Agent&lt;/Text&gt;&#10;                        &lt;Text style={{ fontSize: '10.5px', color: '#7A7A7A', lineHeight: 1.4, marginTop: '3px' }}&gt;本地文件读写·浏览器自动化&lt;/Text&gt;&#10;                    &lt;/Box&gt;&#10;                    &lt;Box style={{&#10;                        width: '155px', height: '62px', padding: '0 9px', background: '#FFFFFF',&#10;                        border: '1px solid #E3E4E8', borderRadius: '3px',&#10;                        flexDirection: 'column', justifyContent: 'center',&#10;                    }}&gt;&#10;                        &lt;Text style={{ fontSize: '12px', fontWeight: 'bold', color: '#1A1A1A' }}&gt;云端 Agent&lt;/Text&gt;&#10;                        &lt;Text style={{ fontSize: '10.5px', color: '#7A7A7A', lineHeight: 1.4, marginTop: '3px' }}&gt;7×24 托管·定时任务·网页全栈&lt;/Text&gt;&#10;                    &lt;/Box&gt;&#10;                    &lt;Box style={{&#10;                        width: '155px', height: '62px', padding: '0 9px', background: '#FFFFFF',&#10;                        border: '1px solid #E3E4E8', borderRadius: '3px',&#10;                        flexDirection: 'column', justifyContent: 'center',&#10;                    }}&gt;&#10;                        &lt;Text style={{ fontSize: '12px', fontWeight: 'bold', color: '#1A1A1A' }}&gt;协同 Agent&lt;/Text&gt;&#10;                        &lt;Text style={{ fontSize: '10.5px', color: '#7A7A7A', lineHeight: 1.4, marginTop: '3px' }}&gt;钉钉 IM·审批·日程回流&lt;/Text&gt;&#10;                    &lt;/Box&gt;&#10;                    &lt;Box style={{&#10;                        flex: 1, height: '62px', padding: '0 9px', background: '#FBE9EB',&#10;                        border: '1px solid #C8102E', borderRadius: '3px',&#10;                        flexDirection: 'column', justifyContent: 'center',&#10;                    }}&gt;&#10;                        &lt;Text style={{ fontSize: '12px', fontWeight: 'bold', color: '#C8102E' }}&gt;安全中心&lt;/Text&gt;&#10;                        &lt;Text style={{ fontSize: '10.5px', color: '#8A3B44', lineHeight: 1.4, marginTop: '3px' }}&gt;事前沙箱 · 事中审批 · 事后可恢复&lt;/Text&gt;&#10;                    &lt;/Box&gt;&#10;                &lt;/Box&gt;&#10;            &lt;/Box&gt;&#10;        &lt;/Box&gt;&#10;&#10;        {/* 右栏 · 主要技术点 */}&#10;        &lt;Box style={{ flex: 1, flexDirection: 'column', gap: '10px' }}&gt;&#10;            &lt;Box style={{&#10;                height: '126px', padding: '12px 13px', background: '#FBE9EB',&#10;                borderLeft: '5px solid #C8102E', borderRadius: '3px',&#10;                flexDirection: 'column',&#10;            }}&gt;&#10;                &lt;Box style={{ flexDirection: 'row', alignItems: 'center', gap: '8px' }}&gt;&#10;                    &lt;Text style={{ fontSize: '13px', fontWeight: 'bold', color: '#C8102E' }}&gt;01&lt;/Text&gt;&#10;                    &lt;Text style={{ fontSize: '14px', fontWeight: 'bold', color: '#1A1A1A' }}&gt;核心矛盾：数据喂不进去，不是模型不够强&lt;/Text&gt;&#10;                &lt;/Box&gt;&#10;                &lt;Box style={{ flexDirection: 'row', alignItems: 'flex-end', gap: '12px', marginTop: '8px' }}&gt;&#10;                    &lt;Text style={{&#10;                        fontSize: '48px', fontWeight: 'bold', color: '#C8102E',&#10;                        fontFamily: &quot;'Helvetica Neue', sans-serif&quot;, lineHeight: 1.0,&#10;                    }}&gt;150PB&lt;/Text&gt;&#10;                    &lt;Text style={{ flex: 1, fontSize: '11px', color: '#5A5A5A', lineHeight: 1.45, paddingBottom: '3px' }}&gt;&#10;                        钉钉统计：一家中大型企业内部数据量级，与百万 Token 窗口相差数个数量级。&#10;                    &lt;/Text&gt;&#10;                &lt;/Box&gt;&#10;                &lt;Text style={{ fontSize: '11px', color: '#8A6A6E', lineHeight: 1.4, marginTop: '8px' }}&gt;&#10;                    答案不是扩窗口，而是决定「提供哪一部分、以何种方式提供」。&#10;                &lt;/Text&gt;&#10;            &lt;/Box&gt;&#10;&#10;            {[&#10;                {&#10;                    n: '02',&#10;                    t: '压缩优先：结构化取代向量堆叠',&#10;                    d: '对文档、群聊、会议、多模资料做人/项目/客户/合同/规则实体抽取，建业务关系图谱，再做层级压缩；任务到来只注入当前任务与权限范围内的最小有效信息。内置专属模型做压缩，Token 成本极低。',&#10;                },&#10;                {&#10;                    n: '03',&#10;                    t: '时序与冲突管理',&#10;                    d: '识别同一件事的新旧版本与矛盾结论，区分失效规则和最新决议，不以「最新一条」粗暴覆盖历史，全链路保留溯源；上下文随业务变更持续刷新，缓解知识库信息过时顽疾。',&#10;                },&#10;                {&#10;                    n: '04',&#10;                    t: '存储选型：一份数据、多引擎共享',&#10;                    d: '文件与工作区走 AgenticFS（AgenticSpace 做配额/访问/性能三重隔离），结构化业务数据走 PolarDB Agent LakeBase（OSS 单一事实源 + 加速空间），长期记忆走 Mem0，向量与图谱由 PolarSearch / pgvector / polar_age 承担——数据不搬家，语义各自收敛。',&#10;                },&#10;                {&#10;                    n: '05',&#10;                    t: '权限与安全：架构底层而非外挂',&#10;                    d: '继承钉钉组织身份与权限，数据进入 Agent 前即划边界；沙箱执行、审批拦截、文件防删与恢复机制，配合可信设备登录与私有化部署，做到「可用不可越权、全链路可审计」。',&#10;                },&#10;            ].map((item, idx) =&gt; (&#10;                &lt;Box key={idx} style={{&#10;                    flex: 1, padding: '9px 12px', background: '#FFFFFF',&#10;                    border: '1px solid #E3E4E8', borderRadius: '3px',&#10;                    boxShadow: '0 2px 8px rgba(26,26,26,0.05)',&#10;                    flexDirection: 'row', gap: '10px',&#10;                }}&gt;&#10;                    &lt;Box style={{ flexDirection: 'column', alignItems: 'center', width: '26px' }}&gt;&#10;                        &lt;Box style={{&#10;                            width: '26px', height: '26px', background: '#C8102E', borderRadius: '2px',&#10;                            alignItems: 'center', justifyContent: 'center',&#10;                        }}&gt;&#10;                            &lt;Text style={{ fontSize: '12px', fontWeight: 'bold', color: '#FFFFFF' }}&gt;{item.n}&lt;/Text&gt;&#10;                        &lt;/Box&gt;&#10;                    &lt;/Box&gt;&#10;                    &lt;Box style={{ flex: 1, flexDirection: 'column' }}&gt;&#10;                        &lt;Text style={{ fontSize: '13px', fontWeight: 'bold', color: '#1A1A1A', lineHeight: 1.3 }}&gt;{item.t}&lt;/Text&gt;&#10;                        &lt;Text style={{ fontSize: '11px', color: '#5A5A5A', lineHeight: 1.45, marginTop: '4px' }}&gt;{item.d}&lt;/Text&gt;&#10;                    &lt;/Box&gt;&#10;                &lt;/Box&gt;&#10;            ))}&#10;        &lt;/Box&gt;&#10;    &lt;/Box&gt;&#10;&#10;    {/* C · 页脚条 */}&#10;    &lt;Box style={{&#10;        height: '38px', borderTop: '1px solid #E3E4E8', marginTop: '10px',&#10;        flexDirection: 'row', alignItems: 'center', justifyContent: 'space-between',&#10;    }}&gt;&#10;        &lt;Text style={{ fontSize: '12px', color: '#9A9A9A' }}&gt;千问办公（QwenWork）· 企业上下文技术洞察&lt;/Text&gt;&#10;        &lt;Text style={{ fontSize: '12px', color: '#9A9A9A', fontFamily: &quot;'Helvetica Neue', sans-serif&quot; }}&gt;01 / 0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381000" y="495300"/>
            <a:ext cx="57150" cy="4381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71500" y="342900"/>
            <a:ext cx="60198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1A1A1A"/>
                </a:solidFill>
                <a:latin typeface="PingFang SC"/>
                <a:ea typeface="PingFang SC"/>
              </a:rPr>
              <a:t>千问办公</a:t>
            </a:r>
            <a:r>
              <a:rPr lang="en-US" sz="2400" b="1">
                <a:solidFill>
                  <a:srgbClr val="1A1A1A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2400" b="1">
                <a:solidFill>
                  <a:srgbClr val="C8102E"/>
                </a:solidFill>
                <a:latin typeface="PingFang SC"/>
                <a:ea typeface="PingFang SC"/>
              </a:rPr>
              <a:t>企业上下文</a:t>
            </a:r>
            <a:r>
              <a:rPr lang="zh-CN" sz="2400" b="1">
                <a:solidFill>
                  <a:srgbClr val="1A1A1A"/>
                </a:solidFill>
                <a:latin typeface="PingFang SC"/>
                <a:ea typeface="PingFang SC"/>
              </a:rPr>
              <a:t>与存储底座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71500" y="847725"/>
            <a:ext cx="60198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5A5A5A"/>
                </a:solidFill>
                <a:latin typeface="PingFang SC"/>
                <a:ea typeface="PingFang SC"/>
              </a:rPr>
              <a:t xml:space="preserve">Context is All You Need —— </a:t>
            </a:r>
            <a:r>
              <a:rPr lang="zh-CN" sz="1050">
                <a:solidFill>
                  <a:srgbClr val="5A5A5A"/>
                </a:solidFill>
                <a:latin typeface="PingFang SC"/>
                <a:ea typeface="PingFang SC"/>
              </a:rPr>
              <a:t>记忆</a:t>
            </a:r>
            <a:r>
              <a:rPr lang="en-US" sz="1050">
                <a:solidFill>
                  <a:srgbClr val="5A5A5A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050">
                <a:solidFill>
                  <a:srgbClr val="5A5A5A"/>
                </a:solidFill>
                <a:latin typeface="PingFang SC"/>
                <a:ea typeface="PingFang SC"/>
              </a:rPr>
              <a:t>知识库</a:t>
            </a:r>
            <a:r>
              <a:rPr lang="en-US" sz="1050">
                <a:solidFill>
                  <a:srgbClr val="5A5A5A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050">
                <a:solidFill>
                  <a:srgbClr val="5A5A5A"/>
                </a:solidFill>
                <a:latin typeface="PingFang SC"/>
                <a:ea typeface="PingFang SC"/>
              </a:rPr>
              <a:t>技能库如何组织，文件与记忆数据究竟落在哪些产品上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10210800" y="495300"/>
            <a:ext cx="1600200" cy="438150"/>
          </a:xfrm>
          <a:prstGeom prst="roundRect">
            <a:avLst>
              <a:gd name="adj" fmla="val 8696"/>
            </a:avLst>
          </a:prstGeom>
          <a:solidFill>
            <a:srgbClr val="FBE9EB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1029950" y="571500"/>
            <a:ext cx="64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8102E"/>
                </a:solidFill>
                <a:latin typeface="PingFang SC"/>
                <a:ea typeface="PingFang SC"/>
              </a:rPr>
              <a:t>QwenWork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344150" y="742950"/>
            <a:ext cx="1333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A6A6E"/>
                </a:solidFill>
                <a:latin typeface="PingFang SC"/>
                <a:ea typeface="PingFang SC"/>
              </a:rPr>
              <a:t xml:space="preserve">2026 </a:t>
            </a:r>
            <a:r>
              <a:rPr lang="zh-CN" sz="750">
                <a:solidFill>
                  <a:srgbClr val="8A6A6E"/>
                </a:solidFill>
                <a:latin typeface="PingFang SC"/>
                <a:ea typeface="PingFang SC"/>
              </a:rPr>
              <a:t>云栖大会</a:t>
            </a:r>
            <a:r>
              <a:rPr lang="en-US" sz="750">
                <a:solidFill>
                  <a:srgbClr val="8A6A6E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750">
                <a:solidFill>
                  <a:srgbClr val="8A6A6E"/>
                </a:solidFill>
                <a:latin typeface="PingFang SC"/>
                <a:ea typeface="PingFang SC"/>
              </a:rPr>
              <a:t>企业级</a:t>
            </a:r>
            <a:r>
              <a:rPr lang="en-US" sz="750">
                <a:solidFill>
                  <a:srgbClr val="8A6A6E"/>
                </a:solidFill>
                <a:latin typeface="PingFang SC"/>
                <a:ea typeface="PingFang SC"/>
              </a:rPr>
              <a:t xml:space="preserve"> Agent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381000" y="123825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1A1A"/>
                </a:solidFill>
                <a:latin typeface="PingFang SC"/>
                <a:ea typeface="PingFang SC"/>
              </a:rPr>
              <a:t>企业上下文数据架构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914525" y="1333500"/>
            <a:ext cx="2867025" cy="9525"/>
          </a:xfrm>
          <a:prstGeom prst="rect">
            <a:avLst/>
          </a:prstGeom>
          <a:solidFill>
            <a:srgbClr val="E3E4E8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4857750" y="1276350"/>
            <a:ext cx="1885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A9A9A"/>
                </a:solidFill>
                <a:latin typeface="PingFang SC"/>
                <a:ea typeface="PingFang SC"/>
              </a:rPr>
              <a:t>自下而上：采集</a:t>
            </a:r>
            <a:r>
              <a:rPr lang="en-US" sz="825">
                <a:solidFill>
                  <a:srgbClr val="9A9A9A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825">
                <a:solidFill>
                  <a:srgbClr val="9A9A9A"/>
                </a:solidFill>
                <a:latin typeface="PingFang SC"/>
                <a:ea typeface="PingFang SC"/>
              </a:rPr>
              <a:t>组织</a:t>
            </a:r>
            <a:r>
              <a:rPr lang="en-US" sz="825">
                <a:solidFill>
                  <a:srgbClr val="9A9A9A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825">
                <a:solidFill>
                  <a:srgbClr val="9A9A9A"/>
                </a:solidFill>
                <a:latin typeface="PingFang SC"/>
                <a:ea typeface="PingFang SC"/>
              </a:rPr>
              <a:t>存储</a:t>
            </a:r>
            <a:r>
              <a:rPr lang="en-US" sz="825">
                <a:solidFill>
                  <a:srgbClr val="9A9A9A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825">
                <a:solidFill>
                  <a:srgbClr val="9A9A9A"/>
                </a:solidFill>
                <a:latin typeface="PingFang SC"/>
                <a:ea typeface="PingFang SC"/>
              </a:rPr>
              <a:t>执行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81000" y="1495425"/>
            <a:ext cx="6362700" cy="685800"/>
          </a:xfrm>
          <a:prstGeom prst="roundRect">
            <a:avLst>
              <a:gd name="adj" fmla="val 5556"/>
            </a:avLst>
          </a:prstGeom>
          <a:solidFill>
            <a:srgbClr val="F5F6F8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57200" y="1543050"/>
            <a:ext cx="621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A1A1A"/>
                </a:solidFill>
                <a:latin typeface="PingFang SC"/>
                <a:ea typeface="PingFang SC"/>
              </a:rPr>
              <a:t xml:space="preserve">① </a:t>
            </a:r>
            <a:r>
              <a:rPr lang="zh-CN" sz="975" b="1">
                <a:solidFill>
                  <a:srgbClr val="1A1A1A"/>
                </a:solidFill>
                <a:latin typeface="PingFang SC"/>
                <a:ea typeface="PingFang SC"/>
              </a:rPr>
              <a:t>接入层</a:t>
            </a:r>
            <a:r>
              <a:rPr lang="en-US" sz="975" b="1">
                <a:solidFill>
                  <a:srgbClr val="1A1A1A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975" b="1">
                <a:solidFill>
                  <a:srgbClr val="1A1A1A"/>
                </a:solidFill>
                <a:latin typeface="PingFang SC"/>
                <a:ea typeface="PingFang SC"/>
              </a:rPr>
              <a:t>五类企业数据碎片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57200" y="1743075"/>
            <a:ext cx="1200150" cy="36195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33400" y="1790700"/>
            <a:ext cx="1047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A1A1A"/>
                </a:solidFill>
                <a:latin typeface="PingFang SC"/>
                <a:ea typeface="PingFang SC"/>
              </a:rPr>
              <a:t xml:space="preserve">IM </a:t>
            </a:r>
            <a:r>
              <a:rPr lang="zh-CN" sz="900" b="1">
                <a:solidFill>
                  <a:srgbClr val="1A1A1A"/>
                </a:solidFill>
                <a:latin typeface="PingFang SC"/>
                <a:ea typeface="PingFang SC"/>
              </a:rPr>
              <a:t>群聊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33400" y="1952625"/>
            <a:ext cx="1047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7A7A7A"/>
                </a:solidFill>
                <a:latin typeface="PingFang SC"/>
                <a:ea typeface="PingFang SC"/>
              </a:rPr>
              <a:t>钉钉</a:t>
            </a:r>
            <a:r>
              <a:rPr lang="en-US" sz="750">
                <a:solidFill>
                  <a:srgbClr val="7A7A7A"/>
                </a:solidFill>
                <a:latin typeface="PingFang SC"/>
                <a:ea typeface="PingFang SC"/>
              </a:rPr>
              <a:t>/</a:t>
            </a:r>
            <a:r>
              <a:rPr lang="zh-CN" sz="750">
                <a:solidFill>
                  <a:srgbClr val="7A7A7A"/>
                </a:solidFill>
                <a:latin typeface="PingFang SC"/>
                <a:ea typeface="PingFang SC"/>
              </a:rPr>
              <a:t>飞书</a:t>
            </a:r>
            <a:r>
              <a:rPr lang="en-US" sz="750">
                <a:solidFill>
                  <a:srgbClr val="7A7A7A"/>
                </a:solidFill>
                <a:latin typeface="PingFang SC"/>
                <a:ea typeface="PingFang SC"/>
              </a:rPr>
              <a:t>/</a:t>
            </a:r>
            <a:r>
              <a:rPr lang="zh-CN" sz="750">
                <a:solidFill>
                  <a:srgbClr val="7A7A7A"/>
                </a:solidFill>
                <a:latin typeface="PingFang SC"/>
                <a:ea typeface="PingFang SC"/>
              </a:rPr>
              <a:t>企微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1714500" y="1743075"/>
            <a:ext cx="1190625" cy="36195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790700" y="1790700"/>
            <a:ext cx="1038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1A1A"/>
                </a:solidFill>
                <a:latin typeface="PingFang SC"/>
                <a:ea typeface="PingFang SC"/>
              </a:rPr>
              <a:t>文档会议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790700" y="1952625"/>
            <a:ext cx="1038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7A7A7A"/>
                </a:solidFill>
                <a:latin typeface="PingFang SC"/>
                <a:ea typeface="PingFang SC"/>
              </a:rPr>
              <a:t>云盘文档·纪要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2962275" y="1743075"/>
            <a:ext cx="1200150" cy="36195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038475" y="1790700"/>
            <a:ext cx="1047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1A1A"/>
                </a:solidFill>
                <a:latin typeface="PingFang SC"/>
                <a:ea typeface="PingFang SC"/>
              </a:rPr>
              <a:t>本地文件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038475" y="1952625"/>
            <a:ext cx="1047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7A7A7A"/>
                </a:solidFill>
                <a:latin typeface="PingFang SC"/>
                <a:ea typeface="PingFang SC"/>
              </a:rPr>
              <a:t>桌面端直读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4219575" y="1743075"/>
            <a:ext cx="1190625" cy="36195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295775" y="1790700"/>
            <a:ext cx="1038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1A1A"/>
                </a:solidFill>
                <a:latin typeface="PingFang SC"/>
                <a:ea typeface="PingFang SC"/>
              </a:rPr>
              <a:t>业务系统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295775" y="1952625"/>
            <a:ext cx="1038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7A7A7A"/>
                </a:solidFill>
                <a:latin typeface="PingFang SC"/>
                <a:ea typeface="PingFang SC"/>
              </a:rPr>
              <a:t>CRM/ERP/</a:t>
            </a:r>
            <a:r>
              <a:rPr lang="zh-CN" sz="750">
                <a:solidFill>
                  <a:srgbClr val="7A7A7A"/>
                </a:solidFill>
                <a:latin typeface="PingFang SC"/>
                <a:ea typeface="PingFang SC"/>
              </a:rPr>
              <a:t>审批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5467350" y="1743075"/>
            <a:ext cx="1200150" cy="36195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543550" y="1790700"/>
            <a:ext cx="1047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1A1A"/>
                </a:solidFill>
                <a:latin typeface="PingFang SC"/>
                <a:ea typeface="PingFang SC"/>
              </a:rPr>
              <a:t>线下采集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543550" y="1952625"/>
            <a:ext cx="1047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7A7A7A"/>
                </a:solidFill>
                <a:latin typeface="PingFang SC"/>
                <a:ea typeface="PingFang SC"/>
              </a:rPr>
              <a:t>QwenNote A2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381000" y="2276475"/>
            <a:ext cx="6362700" cy="1276350"/>
          </a:xfrm>
          <a:prstGeom prst="roundRect">
            <a:avLst>
              <a:gd name="adj" fmla="val 2985"/>
            </a:avLst>
          </a:prstGeom>
          <a:gradFill>
            <a:gsLst>
              <a:gs pos="0">
                <a:srgbClr val="C8102E"/>
              </a:gs>
              <a:gs pos="100000">
                <a:srgbClr val="A60D2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76250" y="2362200"/>
            <a:ext cx="2066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PingFang SC"/>
                <a:ea typeface="PingFang SC"/>
              </a:rPr>
              <a:t xml:space="preserve">② </a:t>
            </a:r>
            <a:r>
              <a:rPr lang="zh-CN" sz="1050" b="1">
                <a:solidFill>
                  <a:srgbClr val="FFFFFF"/>
                </a:solidFill>
                <a:latin typeface="PingFang SC"/>
                <a:ea typeface="PingFang SC"/>
              </a:rPr>
              <a:t>上下文层</a:t>
            </a:r>
            <a:r>
              <a:rPr lang="en-US" sz="1050" b="1">
                <a:solidFill>
                  <a:srgbClr val="FFFFFF"/>
                </a:solidFill>
                <a:latin typeface="PingFang SC"/>
                <a:ea typeface="PingFang SC"/>
              </a:rPr>
              <a:t xml:space="preserve"> · Enterprise Context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505450" y="2390775"/>
            <a:ext cx="114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D9DE"/>
                </a:solidFill>
                <a:latin typeface="PingFang SC"/>
                <a:ea typeface="PingFang SC"/>
              </a:rPr>
              <a:t>结构化压缩，而非向量堆叠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76250" y="2600325"/>
            <a:ext cx="1485900" cy="628650"/>
          </a:xfrm>
          <a:prstGeom prst="roundRect">
            <a:avLst>
              <a:gd name="adj" fmla="val 454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52450" y="2733675"/>
            <a:ext cx="133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PingFang SC"/>
                <a:ea typeface="PingFang SC"/>
              </a:rPr>
              <a:t>长期记忆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52450" y="292417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E3E6"/>
                </a:solidFill>
                <a:latin typeface="PingFang SC"/>
                <a:ea typeface="PingFang SC"/>
              </a:rPr>
              <a:t>偏好·口径·决策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2038350" y="2600325"/>
            <a:ext cx="1485900" cy="628650"/>
          </a:xfrm>
          <a:prstGeom prst="roundRect">
            <a:avLst>
              <a:gd name="adj" fmla="val 454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2114550" y="2733675"/>
            <a:ext cx="133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PingFang SC"/>
                <a:ea typeface="PingFang SC"/>
              </a:rPr>
              <a:t>知识库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2114550" y="292417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E3E6"/>
                </a:solidFill>
                <a:latin typeface="PingFang SC"/>
                <a:ea typeface="PingFang SC"/>
              </a:rPr>
              <a:t>文档·群聊·会议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3600450" y="2600325"/>
            <a:ext cx="1485900" cy="628650"/>
          </a:xfrm>
          <a:prstGeom prst="roundRect">
            <a:avLst>
              <a:gd name="adj" fmla="val 454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3676650" y="2733675"/>
            <a:ext cx="133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PingFang SC"/>
                <a:ea typeface="PingFang SC"/>
              </a:rPr>
              <a:t>本体图谱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676650" y="292417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E3E6"/>
                </a:solidFill>
                <a:latin typeface="PingFang SC"/>
                <a:ea typeface="PingFang SC"/>
              </a:rPr>
              <a:t>实体与规则关系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5162550" y="2600325"/>
            <a:ext cx="1485900" cy="628650"/>
          </a:xfrm>
          <a:prstGeom prst="roundRect">
            <a:avLst>
              <a:gd name="adj" fmla="val 454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238750" y="2733675"/>
            <a:ext cx="133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PingFang SC"/>
                <a:ea typeface="PingFang SC"/>
              </a:rPr>
              <a:t>技能库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238750" y="2924175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E3E6"/>
                </a:solidFill>
                <a:latin typeface="PingFang SC"/>
                <a:ea typeface="PingFang SC"/>
              </a:rPr>
              <a:t>组织级可执行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76250" y="3286125"/>
            <a:ext cx="61722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D9DE"/>
                </a:solidFill>
                <a:latin typeface="PingFang SC"/>
                <a:ea typeface="PingFang SC"/>
              </a:rPr>
              <a:t>连接</a:t>
            </a:r>
            <a:r>
              <a:rPr lang="en-US" sz="750">
                <a:solidFill>
                  <a:srgbClr val="FFD9DE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750">
                <a:solidFill>
                  <a:srgbClr val="FFD9DE"/>
                </a:solidFill>
                <a:latin typeface="PingFang SC"/>
                <a:ea typeface="PingFang SC"/>
              </a:rPr>
              <a:t>理解</a:t>
            </a:r>
            <a:r>
              <a:rPr lang="en-US" sz="750">
                <a:solidFill>
                  <a:srgbClr val="FFD9DE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750">
                <a:solidFill>
                  <a:srgbClr val="FFD9DE"/>
                </a:solidFill>
                <a:latin typeface="PingFang SC"/>
                <a:ea typeface="PingFang SC"/>
              </a:rPr>
              <a:t>复用：实体抽取</a:t>
            </a:r>
            <a:r>
              <a:rPr lang="en-US" sz="750">
                <a:solidFill>
                  <a:srgbClr val="FFD9DE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750">
                <a:solidFill>
                  <a:srgbClr val="FFD9DE"/>
                </a:solidFill>
                <a:latin typeface="PingFang SC"/>
                <a:ea typeface="PingFang SC"/>
              </a:rPr>
              <a:t>业务关系图谱</a:t>
            </a:r>
            <a:r>
              <a:rPr lang="en-US" sz="750">
                <a:solidFill>
                  <a:srgbClr val="FFD9DE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750">
                <a:solidFill>
                  <a:srgbClr val="FFD9DE"/>
                </a:solidFill>
                <a:latin typeface="PingFang SC"/>
                <a:ea typeface="PingFang SC"/>
              </a:rPr>
              <a:t>按需最小注入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381000" y="3705225"/>
            <a:ext cx="6362700" cy="1504950"/>
          </a:xfrm>
          <a:prstGeom prst="roundRect">
            <a:avLst>
              <a:gd name="adj" fmla="val 2532"/>
            </a:avLst>
          </a:prstGeom>
          <a:solidFill>
            <a:srgbClr val="F5F6F8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57200" y="3762375"/>
            <a:ext cx="621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A1A1A"/>
                </a:solidFill>
                <a:latin typeface="PingFang SC"/>
                <a:ea typeface="PingFang SC"/>
              </a:rPr>
              <a:t xml:space="preserve">③ </a:t>
            </a:r>
            <a:r>
              <a:rPr lang="zh-CN" sz="975" b="1">
                <a:solidFill>
                  <a:srgbClr val="1A1A1A"/>
                </a:solidFill>
                <a:latin typeface="PingFang SC"/>
                <a:ea typeface="PingFang SC"/>
              </a:rPr>
              <a:t>存储层</a:t>
            </a:r>
            <a:r>
              <a:rPr lang="en-US" sz="975" b="1">
                <a:solidFill>
                  <a:srgbClr val="1A1A1A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975" b="1">
                <a:solidFill>
                  <a:srgbClr val="1A1A1A"/>
                </a:solidFill>
                <a:latin typeface="PingFang SC"/>
                <a:ea typeface="PingFang SC"/>
              </a:rPr>
              <a:t>数据分别落在哪（阿里云原生产品分工）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457200" y="3971925"/>
            <a:ext cx="3076575" cy="5905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42925" y="4010025"/>
            <a:ext cx="2905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8102E"/>
                </a:solidFill>
                <a:latin typeface="PingFang SC"/>
                <a:ea typeface="PingFang SC"/>
              </a:rPr>
              <a:t>AgenticFS</a:t>
            </a:r>
            <a:r>
              <a:rPr lang="zh-CN" sz="900" b="1">
                <a:solidFill>
                  <a:srgbClr val="C8102E"/>
                </a:solidFill>
                <a:latin typeface="PingFang SC"/>
                <a:ea typeface="PingFang SC"/>
              </a:rPr>
              <a:t>（</a:t>
            </a:r>
            <a:r>
              <a:rPr lang="en-US" sz="900" b="1">
                <a:solidFill>
                  <a:srgbClr val="C8102E"/>
                </a:solidFill>
                <a:latin typeface="PingFang SC"/>
                <a:ea typeface="PingFang SC"/>
              </a:rPr>
              <a:t>NAS</a:t>
            </a:r>
            <a:r>
              <a:rPr lang="zh-CN" sz="900" b="1">
                <a:solidFill>
                  <a:srgbClr val="C8102E"/>
                </a:solidFill>
                <a:latin typeface="PingFang SC"/>
                <a:ea typeface="PingFang SC"/>
              </a:rPr>
              <a:t>）·</a:t>
            </a:r>
            <a:r>
              <a:rPr lang="en-US" sz="900" b="1">
                <a:solidFill>
                  <a:srgbClr val="C8102E"/>
                </a:solidFill>
                <a:latin typeface="PingFang SC"/>
                <a:ea typeface="PingFang SC"/>
              </a:rPr>
              <a:t xml:space="preserve"> Agent </a:t>
            </a:r>
            <a:r>
              <a:rPr lang="zh-CN" sz="900" b="1">
                <a:solidFill>
                  <a:srgbClr val="C8102E"/>
                </a:solidFill>
                <a:latin typeface="PingFang SC"/>
                <a:ea typeface="PingFang SC"/>
              </a:rPr>
              <a:t>原生文件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42925" y="4181475"/>
            <a:ext cx="29051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单文件系统管</a:t>
            </a:r>
            <a:r>
              <a:rPr lang="en-US" sz="788">
                <a:solidFill>
                  <a:srgbClr val="5A5A5A"/>
                </a:solidFill>
                <a:latin typeface="PingFang SC"/>
                <a:ea typeface="PingFang SC"/>
              </a:rPr>
              <a:t xml:space="preserve"> 50 </a:t>
            </a: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万</a:t>
            </a:r>
            <a:r>
              <a:rPr lang="en-US" sz="788">
                <a:solidFill>
                  <a:srgbClr val="5A5A5A"/>
                </a:solidFill>
                <a:latin typeface="PingFang SC"/>
                <a:ea typeface="PingFang SC"/>
              </a:rPr>
              <a:t xml:space="preserve"> AgenticSpace</a:t>
            </a: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，会话记录、记忆、</a:t>
            </a:r>
            <a:r>
              <a:rPr lang="en-US" sz="788">
                <a:solidFill>
                  <a:srgbClr val="5A5A5A"/>
                </a:solidFill>
                <a:latin typeface="PingFang SC"/>
                <a:ea typeface="PingFang SC"/>
              </a:rPr>
              <a:t xml:space="preserve">Skill </a:t>
            </a: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独立落盘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457200" y="4619625"/>
            <a:ext cx="3076575" cy="5905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42925" y="4657725"/>
            <a:ext cx="2905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8102E"/>
                </a:solidFill>
                <a:latin typeface="PingFang SC"/>
                <a:ea typeface="PingFang SC"/>
              </a:rPr>
              <a:t xml:space="preserve">PolarDB Agent LakeBase · </a:t>
            </a:r>
            <a:r>
              <a:rPr lang="zh-CN" sz="900" b="1">
                <a:solidFill>
                  <a:srgbClr val="C8102E"/>
                </a:solidFill>
                <a:latin typeface="PingFang SC"/>
                <a:ea typeface="PingFang SC"/>
              </a:rPr>
              <a:t>分析型湖仓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42925" y="4829175"/>
            <a:ext cx="29051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88">
                <a:solidFill>
                  <a:srgbClr val="5A5A5A"/>
                </a:solidFill>
                <a:latin typeface="PingFang SC"/>
                <a:ea typeface="PingFang SC"/>
              </a:rPr>
              <a:t xml:space="preserve">OSS </a:t>
            </a: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为唯一事实源，</a:t>
            </a:r>
            <a:r>
              <a:rPr lang="en-US" sz="788">
                <a:solidFill>
                  <a:srgbClr val="5A5A5A"/>
                </a:solidFill>
                <a:latin typeface="PingFang SC"/>
                <a:ea typeface="PingFang SC"/>
              </a:rPr>
              <a:t xml:space="preserve">Memory/Knowledge/Ontology </a:t>
            </a: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三层统一，秒级分支沙箱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590925" y="3971925"/>
            <a:ext cx="3076575" cy="5905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676650" y="4010025"/>
            <a:ext cx="2905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8102E"/>
                </a:solidFill>
                <a:latin typeface="PingFang SC"/>
                <a:ea typeface="PingFang SC"/>
              </a:rPr>
              <a:t xml:space="preserve">PolarDB Mem0 · </a:t>
            </a:r>
            <a:r>
              <a:rPr lang="zh-CN" sz="900" b="1">
                <a:solidFill>
                  <a:srgbClr val="C8102E"/>
                </a:solidFill>
                <a:latin typeface="PingFang SC"/>
                <a:ea typeface="PingFang SC"/>
              </a:rPr>
              <a:t>长期记忆托管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676650" y="4181475"/>
            <a:ext cx="29051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88">
                <a:solidFill>
                  <a:srgbClr val="5A5A5A"/>
                </a:solidFill>
                <a:latin typeface="PingFang SC"/>
                <a:ea typeface="PingFang SC"/>
              </a:rPr>
              <a:t xml:space="preserve">100% </a:t>
            </a: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兼容开源</a:t>
            </a:r>
            <a:r>
              <a:rPr lang="en-US" sz="788">
                <a:solidFill>
                  <a:srgbClr val="5A5A5A"/>
                </a:solidFill>
                <a:latin typeface="PingFang SC"/>
                <a:ea typeface="PingFang SC"/>
              </a:rPr>
              <a:t xml:space="preserve"> Mem0</a:t>
            </a: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，语义记忆</a:t>
            </a:r>
            <a:r>
              <a:rPr lang="en-US" sz="788">
                <a:solidFill>
                  <a:srgbClr val="5A5A5A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结构化记忆双通道，水平分片扩容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3590925" y="4619625"/>
            <a:ext cx="3076575" cy="5905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676650" y="4657725"/>
            <a:ext cx="2905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8102E"/>
                </a:solidFill>
                <a:latin typeface="PingFang SC"/>
                <a:ea typeface="PingFang SC"/>
              </a:rPr>
              <a:t xml:space="preserve">OSS + PolarSearch · </a:t>
            </a:r>
            <a:r>
              <a:rPr lang="zh-CN" sz="900" b="1">
                <a:solidFill>
                  <a:srgbClr val="C8102E"/>
                </a:solidFill>
                <a:latin typeface="PingFang SC"/>
                <a:ea typeface="PingFang SC"/>
              </a:rPr>
              <a:t>原始文件与检索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676650" y="4829175"/>
            <a:ext cx="29051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文档</a:t>
            </a:r>
            <a:r>
              <a:rPr lang="en-US" sz="788">
                <a:solidFill>
                  <a:srgbClr val="5A5A5A"/>
                </a:solidFill>
                <a:latin typeface="PingFang SC"/>
                <a:ea typeface="PingFang SC"/>
              </a:rPr>
              <a:t>/</a:t>
            </a: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会议</a:t>
            </a:r>
            <a:r>
              <a:rPr lang="en-US" sz="788">
                <a:solidFill>
                  <a:srgbClr val="5A5A5A"/>
                </a:solidFill>
                <a:latin typeface="PingFang SC"/>
                <a:ea typeface="PingFang SC"/>
              </a:rPr>
              <a:t>/</a:t>
            </a: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附件存</a:t>
            </a:r>
            <a:r>
              <a:rPr lang="en-US" sz="788">
                <a:solidFill>
                  <a:srgbClr val="5A5A5A"/>
                </a:solidFill>
                <a:latin typeface="PingFang SC"/>
                <a:ea typeface="PingFang SC"/>
              </a:rPr>
              <a:t xml:space="preserve"> OSS</a:t>
            </a: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，</a:t>
            </a:r>
            <a:r>
              <a:rPr lang="en-US" sz="788">
                <a:solidFill>
                  <a:srgbClr val="5A5A5A"/>
                </a:solidFill>
                <a:latin typeface="PingFang SC"/>
                <a:ea typeface="PingFang SC"/>
              </a:rPr>
              <a:t xml:space="preserve">PolarSearch </a:t>
            </a: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走向量与多模检索、</a:t>
            </a:r>
            <a:r>
              <a:rPr lang="en-US" sz="788">
                <a:solidFill>
                  <a:srgbClr val="5A5A5A"/>
                </a:solidFill>
                <a:latin typeface="PingFang SC"/>
                <a:ea typeface="PingFang SC"/>
              </a:rPr>
              <a:t xml:space="preserve">NL2SQL </a:t>
            </a:r>
            <a:r>
              <a:rPr lang="zh-CN" sz="788">
                <a:solidFill>
                  <a:srgbClr val="5A5A5A"/>
                </a:solidFill>
                <a:latin typeface="PingFang SC"/>
                <a:ea typeface="PingFang SC"/>
              </a:rPr>
              <a:t>取数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381000" y="5362575"/>
            <a:ext cx="6362700" cy="914400"/>
          </a:xfrm>
          <a:prstGeom prst="roundRect">
            <a:avLst>
              <a:gd name="adj" fmla="val 4167"/>
            </a:avLst>
          </a:prstGeom>
          <a:solidFill>
            <a:srgbClr val="F5F6F8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57200" y="5419725"/>
            <a:ext cx="621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A1A1A"/>
                </a:solidFill>
                <a:latin typeface="PingFang SC"/>
                <a:ea typeface="PingFang SC"/>
              </a:rPr>
              <a:t xml:space="preserve">④ </a:t>
            </a:r>
            <a:r>
              <a:rPr lang="zh-CN" sz="975" b="1">
                <a:solidFill>
                  <a:srgbClr val="1A1A1A"/>
                </a:solidFill>
                <a:latin typeface="PingFang SC"/>
                <a:ea typeface="PingFang SC"/>
              </a:rPr>
              <a:t>执行层</a:t>
            </a:r>
            <a:r>
              <a:rPr lang="en-US" sz="975" b="1">
                <a:solidFill>
                  <a:srgbClr val="1A1A1A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975" b="1">
                <a:solidFill>
                  <a:srgbClr val="1A1A1A"/>
                </a:solidFill>
                <a:latin typeface="PingFang SC"/>
                <a:ea typeface="PingFang SC"/>
              </a:rPr>
              <a:t>三端</a:t>
            </a:r>
            <a:r>
              <a:rPr lang="en-US" sz="975" b="1">
                <a:solidFill>
                  <a:srgbClr val="1A1A1A"/>
                </a:solidFill>
                <a:latin typeface="PingFang SC"/>
                <a:ea typeface="PingFang SC"/>
              </a:rPr>
              <a:t xml:space="preserve"> Agent + </a:t>
            </a:r>
            <a:r>
              <a:rPr lang="zh-CN" sz="975" b="1">
                <a:solidFill>
                  <a:srgbClr val="1A1A1A"/>
                </a:solidFill>
                <a:latin typeface="PingFang SC"/>
                <a:ea typeface="PingFang SC"/>
              </a:rPr>
              <a:t>安全中心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57200" y="5629275"/>
            <a:ext cx="1476375" cy="5905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42925" y="5753100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1A1A"/>
                </a:solidFill>
                <a:latin typeface="PingFang SC"/>
                <a:ea typeface="PingFang SC"/>
              </a:rPr>
              <a:t>桌面</a:t>
            </a:r>
            <a:r>
              <a:rPr lang="en-US" sz="900" b="1">
                <a:solidFill>
                  <a:srgbClr val="1A1A1A"/>
                </a:solidFill>
                <a:latin typeface="PingFang SC"/>
                <a:ea typeface="PingFang SC"/>
              </a:rPr>
              <a:t xml:space="preserve"> Agent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42925" y="5924550"/>
            <a:ext cx="13049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7A7A7A"/>
                </a:solidFill>
                <a:latin typeface="PingFang SC"/>
                <a:ea typeface="PingFang SC"/>
              </a:rPr>
              <a:t>本地文件读写·浏览器自动化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1990725" y="5629275"/>
            <a:ext cx="1476375" cy="5905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2076450" y="5667375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1A1A"/>
                </a:solidFill>
                <a:latin typeface="PingFang SC"/>
                <a:ea typeface="PingFang SC"/>
              </a:rPr>
              <a:t>云端</a:t>
            </a:r>
            <a:r>
              <a:rPr lang="en-US" sz="900" b="1">
                <a:solidFill>
                  <a:srgbClr val="1A1A1A"/>
                </a:solidFill>
                <a:latin typeface="PingFang SC"/>
                <a:ea typeface="PingFang SC"/>
              </a:rPr>
              <a:t xml:space="preserve"> Agent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2076450" y="5838825"/>
            <a:ext cx="13049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88">
                <a:solidFill>
                  <a:srgbClr val="7A7A7A"/>
                </a:solidFill>
                <a:latin typeface="PingFang SC"/>
                <a:ea typeface="PingFang SC"/>
              </a:rPr>
              <a:t xml:space="preserve">7×24 </a:t>
            </a:r>
            <a:r>
              <a:rPr lang="zh-CN" sz="788">
                <a:solidFill>
                  <a:srgbClr val="7A7A7A"/>
                </a:solidFill>
                <a:latin typeface="PingFang SC"/>
                <a:ea typeface="PingFang SC"/>
              </a:rPr>
              <a:t>托管·定时任务·网页全栈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3524250" y="5629275"/>
            <a:ext cx="1476375" cy="59055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609975" y="5753100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A1A1A"/>
                </a:solidFill>
                <a:latin typeface="PingFang SC"/>
                <a:ea typeface="PingFang SC"/>
              </a:rPr>
              <a:t>协同</a:t>
            </a:r>
            <a:r>
              <a:rPr lang="en-US" sz="900" b="1">
                <a:solidFill>
                  <a:srgbClr val="1A1A1A"/>
                </a:solidFill>
                <a:latin typeface="PingFang SC"/>
                <a:ea typeface="PingFang SC"/>
              </a:rPr>
              <a:t xml:space="preserve"> Agent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609975" y="5924550"/>
            <a:ext cx="13049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7A7A7A"/>
                </a:solidFill>
                <a:latin typeface="PingFang SC"/>
                <a:ea typeface="PingFang SC"/>
              </a:rPr>
              <a:t>钉钉</a:t>
            </a:r>
            <a:r>
              <a:rPr lang="en-US" sz="788">
                <a:solidFill>
                  <a:srgbClr val="7A7A7A"/>
                </a:solidFill>
                <a:latin typeface="PingFang SC"/>
                <a:ea typeface="PingFang SC"/>
              </a:rPr>
              <a:t xml:space="preserve"> IM·</a:t>
            </a:r>
            <a:r>
              <a:rPr lang="zh-CN" sz="788">
                <a:solidFill>
                  <a:srgbClr val="7A7A7A"/>
                </a:solidFill>
                <a:latin typeface="PingFang SC"/>
                <a:ea typeface="PingFang SC"/>
              </a:rPr>
              <a:t>审批·日程回流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5057775" y="5629275"/>
            <a:ext cx="1609725" cy="590550"/>
          </a:xfrm>
          <a:prstGeom prst="roundRect">
            <a:avLst>
              <a:gd name="adj" fmla="val 4839"/>
            </a:avLst>
          </a:prstGeom>
          <a:solidFill>
            <a:srgbClr val="FBE9EB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143500" y="5667375"/>
            <a:ext cx="1438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8102E"/>
                </a:solidFill>
                <a:latin typeface="PingFang SC"/>
                <a:ea typeface="PingFang SC"/>
              </a:rPr>
              <a:t>安全中心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5143500" y="5838825"/>
            <a:ext cx="143827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88">
                <a:solidFill>
                  <a:srgbClr val="8A3B44"/>
                </a:solidFill>
                <a:latin typeface="PingFang SC"/>
                <a:ea typeface="PingFang SC"/>
              </a:rPr>
              <a:t>事前沙箱</a:t>
            </a:r>
            <a:r>
              <a:rPr lang="en-US" sz="788">
                <a:solidFill>
                  <a:srgbClr val="8A3B44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788">
                <a:solidFill>
                  <a:srgbClr val="8A3B44"/>
                </a:solidFill>
                <a:latin typeface="PingFang SC"/>
                <a:ea typeface="PingFang SC"/>
              </a:rPr>
              <a:t>事中审批</a:t>
            </a:r>
            <a:r>
              <a:rPr lang="en-US" sz="788">
                <a:solidFill>
                  <a:srgbClr val="8A3B44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788">
                <a:solidFill>
                  <a:srgbClr val="8A3B44"/>
                </a:solidFill>
                <a:latin typeface="PingFang SC"/>
                <a:ea typeface="PingFang SC"/>
              </a:rPr>
              <a:t>事后可恢复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7019925" y="1238250"/>
            <a:ext cx="4838700" cy="1200150"/>
          </a:xfrm>
          <a:prstGeom prst="roundRect">
            <a:avLst>
              <a:gd name="adj" fmla="val 2381"/>
            </a:avLst>
          </a:prstGeom>
          <a:solidFill>
            <a:srgbClr val="FBE9EB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7019925" y="1238250"/>
            <a:ext cx="4838700" cy="1200150"/>
          </a:xfrm>
          <a:custGeom>
            <a:pathLst>
              <a:path w="508" h="126">
                <a:moveTo>
                  <a:pt x="5" y="126"/>
                </a:moveTo>
                <a:cubicBezTo>
                  <a:pt x="4" y="126"/>
                  <a:pt x="3" y="126"/>
                  <a:pt x="1" y="126"/>
                </a:cubicBezTo>
                <a:cubicBezTo>
                  <a:pt x="1" y="125"/>
                  <a:pt x="0" y="124"/>
                  <a:pt x="0" y="12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C8102E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143750" y="1362075"/>
            <a:ext cx="133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8102E"/>
                </a:solidFill>
                <a:latin typeface="PingFang SC"/>
                <a:ea typeface="PingFang SC"/>
              </a:rPr>
              <a:t>01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353300" y="1352550"/>
            <a:ext cx="253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1A1A"/>
                </a:solidFill>
                <a:latin typeface="PingFang SC"/>
                <a:ea typeface="PingFang SC"/>
              </a:rPr>
              <a:t>核心矛盾：数据喂不进去，不是模型不够强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143750" y="1590675"/>
            <a:ext cx="13906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C8102E"/>
                </a:solidFill>
                <a:latin typeface="Helvetica Neue"/>
                <a:ea typeface="Helvetica Neue"/>
              </a:rPr>
              <a:t>150PB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648700" y="1924050"/>
            <a:ext cx="3038475" cy="219075"/>
          </a:xfrm>
          <a:prstGeom prst="rect"/>
        </p:spPr>
        <p:txBody>
          <a:bodyPr wrap="none" lIns="0" tIns="0" rIns="0" bIns="21431"/>
          <a:p>
            <a:pPr>
              <a:lnSpc>
                <a:spcPct val="145000"/>
              </a:lnSpc>
            </a:pP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钉钉统计：一家中大型企业内部数据量级，与百万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 xml:space="preserve"> Token 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窗口相差数个数量级。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143750" y="2219325"/>
            <a:ext cx="45434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8A6A6E"/>
                </a:solidFill>
                <a:latin typeface="PingFang SC"/>
                <a:ea typeface="PingFang SC"/>
              </a:rPr>
              <a:t>答案不是扩窗口，而是决定「提供哪一部分、以何种方式提供」。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972300" y="2533650"/>
            <a:ext cx="4838700" cy="97155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7086600" y="2619375"/>
            <a:ext cx="247650" cy="247650"/>
          </a:xfrm>
          <a:prstGeom prst="roundRect">
            <a:avLst>
              <a:gd name="adj" fmla="val 7692"/>
            </a:avLst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143750" y="26765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429500" y="2619375"/>
            <a:ext cx="426720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 b="1">
                <a:solidFill>
                  <a:srgbClr val="1A1A1A"/>
                </a:solidFill>
                <a:latin typeface="PingFang SC"/>
                <a:ea typeface="PingFang SC"/>
              </a:rPr>
              <a:t>压缩优先：结构化取代向量堆叠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429500" y="2857500"/>
            <a:ext cx="4267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对文档、群聊、会议、多模资料做人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>/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项目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>/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客户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>/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合同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>/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规则实体抽取，建业务关系图谱，再做层级压缩；任务到来只注入当前任务与权限范围内的最小有效信息。内置专属模型做压缩，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 xml:space="preserve">Token 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成本极低。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972300" y="3600450"/>
            <a:ext cx="4838700" cy="78105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7086600" y="3686175"/>
            <a:ext cx="247650" cy="247650"/>
          </a:xfrm>
          <a:prstGeom prst="roundRect">
            <a:avLst>
              <a:gd name="adj" fmla="val 7692"/>
            </a:avLst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143750" y="37433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PingFang SC"/>
                <a:ea typeface="PingFang SC"/>
              </a:rPr>
              <a:t>03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429500" y="3686175"/>
            <a:ext cx="426720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 b="1">
                <a:solidFill>
                  <a:srgbClr val="1A1A1A"/>
                </a:solidFill>
                <a:latin typeface="PingFang SC"/>
                <a:ea typeface="PingFang SC"/>
              </a:rPr>
              <a:t>时序与冲突管理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429500" y="3924300"/>
            <a:ext cx="4267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识别同一件事的新旧版本与矛盾结论，区分失效规则和最新决议，不以「最新一条」粗暴覆盖历史，全链路保留溯源；上下文随业务变更持续刷新，缓解知识库信息过时顽疾。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6972300" y="4476750"/>
            <a:ext cx="4838700" cy="97155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7086600" y="4562475"/>
            <a:ext cx="247650" cy="247650"/>
          </a:xfrm>
          <a:prstGeom prst="roundRect">
            <a:avLst>
              <a:gd name="adj" fmla="val 7692"/>
            </a:avLst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143750" y="46196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PingFang SC"/>
                <a:ea typeface="PingFang SC"/>
              </a:rPr>
              <a:t>04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429500" y="4562475"/>
            <a:ext cx="426720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 b="1">
                <a:solidFill>
                  <a:srgbClr val="1A1A1A"/>
                </a:solidFill>
                <a:latin typeface="PingFang SC"/>
                <a:ea typeface="PingFang SC"/>
              </a:rPr>
              <a:t>存储选型：一份数据、多引擎共享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429500" y="4800600"/>
            <a:ext cx="4267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文件与工作区走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 xml:space="preserve"> AgenticFS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（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 xml:space="preserve">AgenticSpace 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做配额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>/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访问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>/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性能三重隔离），结构化业务数据走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 xml:space="preserve"> PolarDB Agent LakeBase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（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 xml:space="preserve">OSS 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单一事实源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加速空间），长期记忆走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 xml:space="preserve"> Mem0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，向量与图谱由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 xml:space="preserve"> PolarSearch / pgvector / polar_age 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承担——数据不搬家，语义各自收敛。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972300" y="5543550"/>
            <a:ext cx="4838700" cy="78105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  <a:effectLst>
            <a:outerShdw blurRad="76200" dist="19050" dir="5400000">
              <a:srgbClr val="1A1A1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7086600" y="5629275"/>
            <a:ext cx="247650" cy="247650"/>
          </a:xfrm>
          <a:prstGeom prst="roundRect">
            <a:avLst>
              <a:gd name="adj" fmla="val 7692"/>
            </a:avLst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143750" y="56864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PingFang SC"/>
                <a:ea typeface="PingFang SC"/>
              </a:rPr>
              <a:t>05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429500" y="5629275"/>
            <a:ext cx="4267200" cy="2000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75" b="1">
                <a:solidFill>
                  <a:srgbClr val="1A1A1A"/>
                </a:solidFill>
                <a:latin typeface="PingFang SC"/>
                <a:ea typeface="PingFang SC"/>
              </a:rPr>
              <a:t>权限与安全：架构底层而非外挂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429500" y="5867400"/>
            <a:ext cx="4267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继承钉钉组织身份与权限，数据进入</a:t>
            </a:r>
            <a:r>
              <a:rPr lang="en-US" sz="825">
                <a:solidFill>
                  <a:srgbClr val="5A5A5A"/>
                </a:solidFill>
                <a:latin typeface="PingFang SC"/>
                <a:ea typeface="PingFang SC"/>
              </a:rPr>
              <a:t xml:space="preserve"> Agent </a:t>
            </a:r>
            <a:r>
              <a:rPr lang="zh-CN" sz="825">
                <a:solidFill>
                  <a:srgbClr val="5A5A5A"/>
                </a:solidFill>
                <a:latin typeface="PingFang SC"/>
                <a:ea typeface="PingFang SC"/>
              </a:rPr>
              <a:t>前即划边界；沙箱执行、审批拦截、文件防删与恢复机制，配合可信设备登录与私有化部署，做到「可用不可越权、全链路可审计」。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381000" y="6419850"/>
            <a:ext cx="11430000" cy="361950"/>
          </a:xfrm>
          <a:custGeom>
            <a:pathLst>
              <a:path w="1200" h="38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3E4E8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81000" y="6534150"/>
            <a:ext cx="2390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9A9A"/>
                </a:solidFill>
                <a:latin typeface="PingFang SC"/>
                <a:ea typeface="PingFang SC"/>
              </a:rPr>
              <a:t>千问办公（</a:t>
            </a:r>
            <a:r>
              <a:rPr lang="en-US" sz="900">
                <a:solidFill>
                  <a:srgbClr val="9A9A9A"/>
                </a:solidFill>
                <a:latin typeface="PingFang SC"/>
                <a:ea typeface="PingFang SC"/>
              </a:rPr>
              <a:t>QwenWork</a:t>
            </a:r>
            <a:r>
              <a:rPr lang="zh-CN" sz="900">
                <a:solidFill>
                  <a:srgbClr val="9A9A9A"/>
                </a:solidFill>
                <a:latin typeface="PingFang SC"/>
                <a:ea typeface="PingFang SC"/>
              </a:rPr>
              <a:t>）·</a:t>
            </a:r>
            <a:r>
              <a:rPr lang="en-US" sz="900">
                <a:solidFill>
                  <a:srgbClr val="9A9A9A"/>
                </a:solidFill>
                <a:latin typeface="PingFang SC"/>
                <a:ea typeface="PingFang SC"/>
              </a:rPr>
              <a:t xml:space="preserve"> </a:t>
            </a:r>
            <a:r>
              <a:rPr lang="zh-CN" sz="900">
                <a:solidFill>
                  <a:srgbClr val="9A9A9A"/>
                </a:solidFill>
                <a:latin typeface="PingFang SC"/>
                <a:ea typeface="PingFang SC"/>
              </a:rPr>
              <a:t>企业上下文技术洞察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449050" y="6534150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A9A9A"/>
                </a:solidFill>
                <a:latin typeface="Helvetica Neue"/>
                <a:ea typeface="Helvetica Neue"/>
              </a:rPr>
              <a:t>01 / 01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524250" y="2181225"/>
            <a:ext cx="857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75">
                <a:solidFill>
                  <a:srgbClr val="C8102E">
                    <a:alpha val="55000"/>
                  </a:srgbClr>
                </a:solidFill>
                <a:latin typeface="PingFang SC"/>
                <a:ea typeface="PingFang SC"/>
              </a:rPr>
              <a:t>▼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524250" y="3581400"/>
            <a:ext cx="857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75">
                <a:solidFill>
                  <a:srgbClr val="C8102E">
                    <a:alpha val="55000"/>
                  </a:srgbClr>
                </a:solidFill>
                <a:latin typeface="PingFang SC"/>
                <a:ea typeface="PingFang SC"/>
              </a:rPr>
              <a:t>▼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524250" y="5238750"/>
            <a:ext cx="857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75">
                <a:solidFill>
                  <a:srgbClr val="C8102E">
                    <a:alpha val="55000"/>
                  </a:srgbClr>
                </a:solidFill>
                <a:latin typeface="PingFang SC"/>
                <a:ea typeface="PingFang SC"/>
              </a:rPr>
              <a:t>▼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2026-10-07T14:03:09Z</dcterms:created>
  <dcterms:modified xsi:type="dcterms:W3CDTF">2026-10-07T14:03:09Z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{"AIGC":{"Label":"1","ContentProducer":"00119111010856365494821B355","ProduceID":"01a114ee84f47d4f907bea9151efae47","ReservedCode1":"","ContentPropagator":"00119111010856365494821B355","PropagateID":"01a114ee84f47d4f907bea9151efae47","ReservedCode2":""}}</vt:lpwstr>
  </property>
</Properties>
</file>